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4" r:id="rId9"/>
    <p:sldId id="263" r:id="rId10"/>
    <p:sldId id="262" r:id="rId11"/>
    <p:sldId id="267" r:id="rId12"/>
    <p:sldId id="268" r:id="rId13"/>
    <p:sldId id="269" r:id="rId14"/>
    <p:sldId id="270" r:id="rId15"/>
    <p:sldId id="265" r:id="rId16"/>
    <p:sldId id="271" r:id="rId17"/>
    <p:sldId id="278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4789"/>
            <a:ext cx="2834640" cy="93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AP</a:t>
            </a:r>
            <a:br>
              <a:rPr dirty="0"/>
            </a:br>
            <a:r>
              <a:rPr sz="2400" dirty="0">
                <a:solidFill>
                  <a:schemeClr val="bg1">
                    <a:lumMod val="85000"/>
                  </a:schemeClr>
                </a:solidFill>
              </a:rPr>
              <a:t>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114300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996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UNIT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974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0C4D8"/>
                </a:solidFill>
                <a:latin typeface="Aptos"/>
              </a:rPr>
              <a:t>Lesson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15672"/>
            <a:ext cx="2926080" cy="93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Experimental</a:t>
            </a:r>
            <a:br>
              <a:rPr dirty="0"/>
            </a:br>
            <a:r>
              <a:rPr sz="2400" dirty="0">
                <a:solidFill>
                  <a:schemeClr val="bg1">
                    <a:lumMod val="85000"/>
                  </a:schemeClr>
                </a:solidFill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61772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DD8E4"/>
                </a:solidFill>
                <a:latin typeface="Aptos"/>
              </a:rPr>
              <a:t>From association to evidence of cause and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7132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9807A"/>
                </a:solidFill>
                <a:latin typeface="Aptos"/>
              </a:rPr>
              <a:t>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097280"/>
            <a:ext cx="6675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4"/>
                </a:solidFill>
                <a:latin typeface="Aptos"/>
              </a:rPr>
              <a:t>Does a new study technique</a:t>
            </a:r>
            <a:br/>
            <a:r>
              <a:t>improve mathematics test scores?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560320"/>
            <a:ext cx="66751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283464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100 students</a:t>
            </a:r>
          </a:p>
        </p:txBody>
      </p:sp>
      <p:sp>
        <p:nvSpPr>
          <p:cNvPr id="14" name="Oval 13"/>
          <p:cNvSpPr/>
          <p:nvPr/>
        </p:nvSpPr>
        <p:spPr>
          <a:xfrm>
            <a:off x="5131612" y="3429000"/>
            <a:ext cx="175564" cy="175564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0" y="3633825"/>
            <a:ext cx="380390" cy="36576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98540" y="3429000"/>
            <a:ext cx="175564" cy="175564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96128" y="3633825"/>
            <a:ext cx="380390" cy="36576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65468" y="3429000"/>
            <a:ext cx="175564" cy="175564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63056" y="3633825"/>
            <a:ext cx="380390" cy="36576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32396" y="3429000"/>
            <a:ext cx="175564" cy="175564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29983" y="3633825"/>
            <a:ext cx="380390" cy="36576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99324" y="3429000"/>
            <a:ext cx="175564" cy="175564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96912" y="3633825"/>
            <a:ext cx="380390" cy="36576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31612" y="4206240"/>
            <a:ext cx="175564" cy="175564"/>
          </a:xfrm>
          <a:prstGeom prst="ellipse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29200" y="4411065"/>
            <a:ext cx="380390" cy="36576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98540" y="4206240"/>
            <a:ext cx="175564" cy="175564"/>
          </a:xfrm>
          <a:prstGeom prst="ellipse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596128" y="4411065"/>
            <a:ext cx="380390" cy="36576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65468" y="4206240"/>
            <a:ext cx="175564" cy="175564"/>
          </a:xfrm>
          <a:prstGeom prst="ellipse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63056" y="4411065"/>
            <a:ext cx="380390" cy="36576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32396" y="4206240"/>
            <a:ext cx="175564" cy="175564"/>
          </a:xfrm>
          <a:prstGeom prst="ellipse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29983" y="4411065"/>
            <a:ext cx="380390" cy="36576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99324" y="4206240"/>
            <a:ext cx="175564" cy="175564"/>
          </a:xfrm>
          <a:prstGeom prst="ellipse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296912" y="4411065"/>
            <a:ext cx="380390" cy="36576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7909560" y="3977639"/>
            <a:ext cx="91440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006840" y="3063240"/>
            <a:ext cx="960120" cy="7772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321868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C5B8A"/>
                </a:solidFill>
                <a:latin typeface="Aptos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160520"/>
            <a:ext cx="960120" cy="77724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0" y="4315968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9807A"/>
                </a:solidFill>
                <a:latin typeface="Aptos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138928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E6977"/>
                </a:solidFill>
                <a:latin typeface="Aptos"/>
              </a:rPr>
              <a:t>How do we assign them fairly?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LESSON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What makes an experiment convincing?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We will build one experiment step by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66928" cy="566928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65376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1051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Identify the pieces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10512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experimental units • factors • treatments •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566928" cy="566928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06624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651760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Design for fairness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51760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comparison • random assignment • replication •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11296"/>
            <a:ext cx="566928" cy="566928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493008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Reduce hidden influence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493008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placebo • blinding • extraneous variables • confounding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566928" cy="566928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34256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Choose a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334256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completely randomized • randomized block • matched pairs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93792"/>
            <a:ext cx="566928" cy="566928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30368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175504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Make the right 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175504"/>
            <a:ext cx="6858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cause &amp; effect vs. generalization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BRIDGE FROM 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Observational study or experiment?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The difference is whether researchers impose treatments.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084831"/>
            <a:ext cx="1920240" cy="384048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103120"/>
            <a:ext cx="1773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C5B8A"/>
                </a:solidFill>
                <a:latin typeface="Aptos"/>
              </a:rPr>
              <a:t>OBSERVATIONAL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21F34"/>
                </a:solidFill>
                <a:latin typeface="Aptos"/>
              </a:rPr>
              <a:t>Researchers observe.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2D37"/>
                </a:solidFill>
                <a:latin typeface="Aptos"/>
              </a:rPr>
              <a:t>Students report their usual study method and test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5B8A"/>
                </a:solidFill>
                <a:latin typeface="Aptos"/>
              </a:rPr>
              <a:t>No treatment is imposed.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84831"/>
            <a:ext cx="132588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10312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7004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21F34"/>
                </a:solidFill>
                <a:latin typeface="Aptos"/>
              </a:rPr>
              <a:t>Researchers intervene.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2D37"/>
                </a:solidFill>
                <a:latin typeface="Aptos"/>
              </a:rPr>
              <a:t>Students are assigned to different study techniques and then compared.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519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9807A"/>
                </a:solidFill>
                <a:latin typeface="Aptos"/>
              </a:rPr>
              <a:t>Treatments are assigned.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5486400"/>
            <a:ext cx="7726679" cy="56692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5577840"/>
            <a:ext cx="7360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0A43E"/>
                </a:solidFill>
                <a:latin typeface="Aptos"/>
              </a:rPr>
              <a:t>Question: Which design can support a cause-and-effect conclusion?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THE ANATOMY OF AN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Name the pieces before you analyze the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11680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Experimental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2316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The individuals or objects that receive a treatment.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907791"/>
            <a:ext cx="228600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2926079"/>
            <a:ext cx="2139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100 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7492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011680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Factor / explanatory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2316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The variable whose levels are imposed.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2907791"/>
            <a:ext cx="228600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2926079"/>
            <a:ext cx="2139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Study technique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07492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977640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Treatments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38912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The specific conditions assigned to units.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4873752"/>
            <a:ext cx="228600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4984" y="4892040"/>
            <a:ext cx="2139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Technique A / Technique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07492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977640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Response 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38912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The outcome measured after treatment.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4873752"/>
            <a:ext cx="228600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4892040"/>
            <a:ext cx="2139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Mathematics test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OUR RUNNING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Does a new study technique improve mathematics test scores?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442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100 students</a:t>
            </a:r>
          </a:p>
        </p:txBody>
      </p:sp>
      <p:sp>
        <p:nvSpPr>
          <p:cNvPr id="7" name="Oval 6"/>
          <p:cNvSpPr/>
          <p:nvPr/>
        </p:nvSpPr>
        <p:spPr>
          <a:xfrm>
            <a:off x="1180490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19402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36192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8314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75104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97226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14015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36138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52928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75050" y="274320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39" y="290962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80490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9402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536192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058314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75104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7226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14015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936138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52928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75050" y="3401568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91839" y="356798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3840480" y="3337560"/>
            <a:ext cx="82296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92040" y="2331720"/>
            <a:ext cx="2057400" cy="9144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4920" y="25603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5B8A"/>
                </a:solidFill>
                <a:latin typeface="Aptos"/>
              </a:rPr>
              <a:t>Technique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3657600"/>
            <a:ext cx="2057400" cy="91440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388620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807A"/>
                </a:solidFill>
                <a:latin typeface="Aptos"/>
              </a:rPr>
              <a:t>Technique 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78040" y="3337560"/>
            <a:ext cx="777239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83879" y="2606040"/>
            <a:ext cx="2560320" cy="1417320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283464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21F34"/>
                </a:solidFill>
                <a:latin typeface="Aptos"/>
              </a:rPr>
              <a:t>Compare</a:t>
            </a:r>
            <a:br/>
            <a:r>
              <a:t>math test scores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5623560"/>
            <a:ext cx="7909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84848"/>
                </a:solidFill>
                <a:latin typeface="Aptos"/>
              </a:rPr>
              <a:t>But how should students be assigned to A and B?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A TEMPTING—BUT WEAK—DESIGN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Let students choose their own study technique.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657600" cy="3383280"/>
          </a:xfrm>
          <a:prstGeom prst="roundRect">
            <a:avLst/>
          </a:prstGeom>
          <a:solidFill>
            <a:srgbClr val="F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B84848"/>
                </a:solidFill>
                <a:latin typeface="Aptos"/>
              </a:rPr>
              <a:t>Students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9718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52D37"/>
                </a:solidFill>
                <a:latin typeface="Aptos"/>
              </a:rPr>
              <a:t>Motivated students may prefer the new technique.</a:t>
            </a:r>
            <a:br/>
            <a:br/>
            <a:r>
              <a:t>Other students may prefer the familiar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84848"/>
                </a:solidFill>
                <a:latin typeface="Aptos"/>
              </a:rPr>
              <a:t>The groups may differ BEFORE treatment.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0600" y="3429000"/>
            <a:ext cx="82296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97880" y="1828800"/>
            <a:ext cx="53949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1F34"/>
                </a:solidFill>
                <a:latin typeface="Aptos"/>
              </a:rPr>
              <a:t>Possible confounding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52D37"/>
                </a:solidFill>
                <a:latin typeface="Aptos"/>
              </a:defRPr>
            </a:pPr>
            <a:r>
              <a:t>• motivation</a:t>
            </a:r>
          </a:p>
          <a:p>
            <a:pPr>
              <a:spcAft>
                <a:spcPts val="700"/>
              </a:spcAft>
              <a:defRPr sz="1700">
                <a:solidFill>
                  <a:srgbClr val="252D37"/>
                </a:solidFill>
                <a:latin typeface="Aptos"/>
              </a:defRPr>
            </a:pPr>
            <a:r>
              <a:t>• previous achievement</a:t>
            </a:r>
          </a:p>
          <a:p>
            <a:pPr>
              <a:spcAft>
                <a:spcPts val="700"/>
              </a:spcAft>
              <a:defRPr sz="1700">
                <a:solidFill>
                  <a:srgbClr val="252D37"/>
                </a:solidFill>
                <a:latin typeface="Aptos"/>
              </a:defRPr>
            </a:pPr>
            <a:r>
              <a:t>• study habits</a:t>
            </a:r>
          </a:p>
          <a:p>
            <a:pPr>
              <a:spcAft>
                <a:spcPts val="700"/>
              </a:spcAft>
              <a:defRPr sz="1700">
                <a:solidFill>
                  <a:srgbClr val="252D37"/>
                </a:solidFill>
                <a:latin typeface="Aptos"/>
              </a:defRPr>
            </a:pPr>
            <a:r>
              <a:t>• parental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1772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84848"/>
                </a:solidFill>
                <a:latin typeface="Aptos"/>
              </a:rPr>
              <a:t>If scores differ, what caused the difference?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WHAT ELSE COULD AFFECT THE RESPONSE?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Extraneous variables and confounding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F34"/>
                </a:solidFill>
                <a:latin typeface="Aptos"/>
              </a:rPr>
              <a:t>Extraneous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4389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A variable believed to affect the response but is not the explanatory variable being studied.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251960"/>
            <a:ext cx="283464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270248"/>
            <a:ext cx="26883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Example: prior math achievement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6636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F34"/>
                </a:solidFill>
                <a:latin typeface="Aptos"/>
              </a:rPr>
              <a:t>Confounding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389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When another variable is related to the explanatory variable so that it is difficult to determine which variable is influencing the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84848"/>
                </a:solidFill>
                <a:latin typeface="Aptos"/>
              </a:rPr>
              <a:t>A well-designed experiment reduces this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COMPARISON NEEDS A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Control groups and the placebo effect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1463040" cy="384048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21408"/>
            <a:ext cx="13167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C5B8A"/>
                </a:solidFill>
                <a:latin typeface="Aptos"/>
              </a:rPr>
              <a:t>CONTROL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F34"/>
                </a:solidFill>
                <a:latin typeface="Aptos"/>
              </a:rPr>
              <a:t>A group created for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343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It may receive no treatment, a standard treatment, or an inactive treatment.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343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5B8A"/>
                </a:solidFill>
                <a:latin typeface="Aptos"/>
              </a:rPr>
              <a:t>Purpose: isolate the effect of the treatment of interest.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96012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121408"/>
            <a:ext cx="8138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PLACEBO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F34"/>
                </a:solidFill>
                <a:latin typeface="Aptos"/>
              </a:rPr>
              <a:t>An inactive treatment.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4297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The placebo effect is the difference between the average response to a placebo and the average response to no treatment.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A43E"/>
                </a:solidFill>
                <a:latin typeface="Aptos"/>
              </a:rPr>
              <a:t>A placebo can help separate expectation from treatment effect.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FOUR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Elements of a well-designed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54864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2996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5059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Compare at least two treatment groups; one may be a control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749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2084832"/>
            <a:ext cx="548640" cy="54864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12264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2996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Random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5059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Use chance to assign treatments to experimental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03320"/>
            <a:ext cx="50749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959352"/>
            <a:ext cx="548640" cy="548640"/>
          </a:xfrm>
          <a:prstGeom prst="roundRect">
            <a:avLst/>
          </a:prstGeom>
          <a:solidFill>
            <a:srgbClr val="E0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04487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Replication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2511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Assign more than one experimental unit to each treatment.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0749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46520" y="3959352"/>
            <a:ext cx="548640" cy="548640"/>
          </a:xfrm>
          <a:prstGeom prst="roundRect">
            <a:avLst/>
          </a:prstGeom>
          <a:solidFill>
            <a:srgbClr val="B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86783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04487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F34"/>
                </a:solidFill>
                <a:latin typeface="Aptos"/>
              </a:rPr>
              <a:t>Direct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2511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Keep important extraneous conditions as similar as possible.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THE KEY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Random assignment creates comparable treatment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Chance—not student choice—determines who receives each treatment.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1F34"/>
                </a:solidFill>
                <a:latin typeface="Aptos"/>
              </a:rPr>
              <a:t>100 students</a:t>
            </a:r>
          </a:p>
        </p:txBody>
      </p:sp>
      <p:sp>
        <p:nvSpPr>
          <p:cNvPr id="8" name="Oval 7"/>
          <p:cNvSpPr/>
          <p:nvPr/>
        </p:nvSpPr>
        <p:spPr>
          <a:xfrm>
            <a:off x="1134770" y="27889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" y="29553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91970" y="27889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08760" y="29553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49170" y="27889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65960" y="29553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06370" y="27889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23160" y="29553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4770" y="338327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354970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91970" y="338327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08760" y="354970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49170" y="338327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965960" y="354970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506370" y="338327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23160" y="354970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34770" y="397763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414406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591970" y="397763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508760" y="414406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049170" y="397763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414406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06370" y="3977639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423160" y="414406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977639" y="2514600"/>
            <a:ext cx="1828800" cy="1920240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60520" y="297180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0A43E"/>
                </a:solidFill>
                <a:latin typeface="Aptos"/>
              </a:rPr>
              <a:t>RANDOM</a:t>
            </a:r>
            <a:br/>
            <a:r>
              <a:t>ASSIGNMENT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29000" y="3474720"/>
            <a:ext cx="50292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806440" y="2697480"/>
            <a:ext cx="640080" cy="41148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06440" y="3794760"/>
            <a:ext cx="640080" cy="45720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83680" y="1965960"/>
            <a:ext cx="3886200" cy="12344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2240280"/>
            <a:ext cx="3429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5B8A"/>
                </a:solidFill>
                <a:latin typeface="Aptos"/>
              </a:rPr>
              <a:t>Technique A</a:t>
            </a:r>
            <a:br/>
            <a:r>
              <a:t>≈ similar mix of students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749039"/>
            <a:ext cx="3886200" cy="123444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2280" y="4023360"/>
            <a:ext cx="3429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9807A"/>
                </a:solidFill>
                <a:latin typeface="Aptos"/>
              </a:rPr>
              <a:t>Technique B</a:t>
            </a:r>
            <a:br/>
            <a:r>
              <a:t>≈ similar mix of students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74519" y="5623560"/>
            <a:ext cx="8366760" cy="50292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57400" y="5696712"/>
            <a:ext cx="8001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Random assignment reduces the potential for confounding.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DESIGN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Completely randomized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Assign treatments to all experimental units completely at random.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100 students</a:t>
            </a:r>
          </a:p>
        </p:txBody>
      </p:sp>
      <p:sp>
        <p:nvSpPr>
          <p:cNvPr id="7" name="Oval 6"/>
          <p:cNvSpPr/>
          <p:nvPr/>
        </p:nvSpPr>
        <p:spPr>
          <a:xfrm>
            <a:off x="951890" y="25603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7267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90802" y="25603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07592" y="27267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9714" y="25603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746504" y="27267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68626" y="25603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85415" y="27267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07538" y="2560320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24328" y="2726740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1890" y="3218687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38510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90802" y="3218687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07592" y="338510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29714" y="3218687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746504" y="338510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268626" y="3218687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185415" y="338510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07538" y="3218687"/>
            <a:ext cx="142646" cy="142646"/>
          </a:xfrm>
          <a:prstGeom prst="ellipse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624328" y="3385108"/>
            <a:ext cx="309067" cy="297180"/>
          </a:xfrm>
          <a:prstGeom prst="roundRect">
            <a:avLst/>
          </a:prstGeom>
          <a:solidFill>
            <a:srgbClr val="2C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3291840" y="3246120"/>
            <a:ext cx="77724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06240" y="2423160"/>
            <a:ext cx="1828800" cy="1645920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761488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0A43E"/>
                </a:solidFill>
                <a:latin typeface="Aptos"/>
              </a:rPr>
              <a:t>RANDOM</a:t>
            </a:r>
            <a:br/>
            <a:r>
              <a:t>ASSIGNMENT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080760" y="2560320"/>
            <a:ext cx="731520" cy="41148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3520440"/>
            <a:ext cx="731520" cy="457199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95160" y="1874519"/>
            <a:ext cx="3657600" cy="12344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2376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C5B8A"/>
                </a:solidFill>
                <a:latin typeface="Aptos"/>
              </a:rPr>
              <a:t>50 → Technique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3657600"/>
            <a:ext cx="3657600" cy="123444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40690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9807A"/>
                </a:solidFill>
                <a:latin typeface="Aptos"/>
              </a:rPr>
              <a:t>50 → Technique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532120"/>
            <a:ext cx="6766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E6977"/>
                </a:solidFill>
                <a:latin typeface="Aptos"/>
              </a:rPr>
              <a:t>Best when there is no strong reason to group units first.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DESIGN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Randomized block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First group similar units. Then randomize treatments within every block.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E6977"/>
                </a:solidFill>
                <a:latin typeface="Aptos"/>
              </a:rPr>
              <a:t>Potential blocking variable: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737360"/>
            <a:ext cx="196596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1755648"/>
            <a:ext cx="18196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Prior math achievement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743200" cy="11887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1576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5B8A"/>
                </a:solidFill>
                <a:latin typeface="Aptos"/>
              </a:rPr>
              <a:t>High prior 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926079"/>
            <a:ext cx="68580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2496312"/>
            <a:ext cx="1600200" cy="868680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72491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0A43E"/>
                </a:solidFill>
                <a:latin typeface="Aptos"/>
              </a:rPr>
              <a:t>Randomize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35040" y="2560320"/>
            <a:ext cx="594360" cy="182880"/>
          </a:xfrm>
          <a:prstGeom prst="line">
            <a:avLst/>
          </a:prstGeom>
          <a:ln w="254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3108960"/>
            <a:ext cx="594360" cy="182879"/>
          </a:xfrm>
          <a:prstGeom prst="line">
            <a:avLst/>
          </a:prstGeom>
          <a:ln w="254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43700" y="2121408"/>
            <a:ext cx="1965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5957" y="233172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C5B8A"/>
                </a:solidFill>
                <a:latin typeface="Aptos"/>
              </a:rPr>
              <a:t>Technique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2546" y="2971801"/>
            <a:ext cx="1965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3159253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9807A"/>
                </a:solidFill>
                <a:latin typeface="Aptos"/>
              </a:rPr>
              <a:t>Technique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2743200" cy="118872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9807A"/>
                </a:solidFill>
                <a:latin typeface="Aptos"/>
              </a:rPr>
              <a:t>Lower prior score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6160" y="4572000"/>
            <a:ext cx="685800" cy="0"/>
          </a:xfrm>
          <a:prstGeom prst="line">
            <a:avLst/>
          </a:prstGeom>
          <a:ln w="381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89120" y="4142231"/>
            <a:ext cx="1600200" cy="868680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370831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0A43E"/>
                </a:solidFill>
                <a:latin typeface="Aptos"/>
              </a:rPr>
              <a:t>Randomize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35040" y="4206240"/>
            <a:ext cx="594360" cy="182880"/>
          </a:xfrm>
          <a:prstGeom prst="line">
            <a:avLst/>
          </a:prstGeom>
          <a:ln w="254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4754879"/>
            <a:ext cx="594360" cy="182880"/>
          </a:xfrm>
          <a:prstGeom prst="line">
            <a:avLst/>
          </a:prstGeom>
          <a:ln w="25400">
            <a:solidFill>
              <a:srgbClr val="E0A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3700" y="3881629"/>
            <a:ext cx="1965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1146" y="40690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C5B8A"/>
                </a:solidFill>
                <a:latin typeface="Aptos"/>
              </a:rPr>
              <a:t>Technique 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4704589"/>
            <a:ext cx="1965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5160" y="4882896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9807A"/>
                </a:solidFill>
                <a:latin typeface="Aptos"/>
              </a:rPr>
              <a:t>Technique 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5623560"/>
            <a:ext cx="8321040" cy="50292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48840" y="5687568"/>
            <a:ext cx="7863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Blocking separates variation due to the blocking variable and can make treatment comparisons more precise.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DESIGN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Matched pairs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E6977"/>
                </a:solidFill>
                <a:latin typeface="Aptos"/>
              </a:rPr>
              <a:t>A special randomized block design with only two treatments.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2148840"/>
            <a:ext cx="914400" cy="384048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2167128"/>
            <a:ext cx="7680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C5B8A"/>
                </a:solidFill>
                <a:latin typeface="Aptos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1F34"/>
                </a:solidFill>
                <a:latin typeface="Aptos"/>
              </a:rPr>
              <a:t>Match similar units into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Within each pair, randomly assign one unit to A and the other to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34840"/>
            <a:ext cx="4297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5B8A"/>
                </a:solidFill>
                <a:latin typeface="Aptos"/>
              </a:rPr>
              <a:t>Example: pair students with similar prior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1206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148840"/>
            <a:ext cx="914400" cy="384048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167128"/>
            <a:ext cx="7680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9807A"/>
                </a:solidFill>
                <a:latin typeface="Aptos"/>
              </a:rP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1F34"/>
                </a:solidFill>
                <a:latin typeface="Aptos"/>
              </a:rPr>
              <a:t>Each unit receives both treatments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Randomize the order of the two treatments for each unit.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34840"/>
            <a:ext cx="4297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9807A"/>
                </a:solidFill>
                <a:latin typeface="Aptos"/>
              </a:rPr>
              <a:t>Useful when each unit can serve as its own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WHICH DESIGN 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Choose based on the study—not by habit.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246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2D37"/>
                </a:solidFill>
                <a:latin typeface="Aptos"/>
              </a:rPr>
              <a:t>No obvious grouping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74519"/>
            <a:ext cx="2880360" cy="9601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039112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F34"/>
                </a:solidFill>
                <a:latin typeface="Aptos"/>
              </a:rPr>
              <a:t>Completely randomized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74519"/>
            <a:ext cx="40690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2039112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Randomize all units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36391"/>
            <a:ext cx="3246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00984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2D37"/>
                </a:solidFill>
                <a:latin typeface="Aptos"/>
              </a:rPr>
              <a:t>Known variable strongly affects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36391"/>
            <a:ext cx="2880360" cy="96012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3300984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F34"/>
                </a:solidFill>
                <a:latin typeface="Aptos"/>
              </a:rPr>
              <a:t>Randomized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36391"/>
            <a:ext cx="40690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3300984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Block first, randomize within blocks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98264"/>
            <a:ext cx="3246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62855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2D37"/>
                </a:solidFill>
                <a:latin typeface="Aptos"/>
              </a:rPr>
              <a:t>Two treatments + natural pairing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398264"/>
            <a:ext cx="2880360" cy="96012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4562855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F34"/>
                </a:solidFill>
                <a:latin typeface="Aptos"/>
              </a:rPr>
              <a:t>Matched pairs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398264"/>
            <a:ext cx="40690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4562855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E6977"/>
                </a:solidFill>
                <a:latin typeface="Aptos"/>
              </a:rPr>
              <a:t>Match pairs or let each unit receive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EXPECTATION CAN INFLUENCE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Blinding reduces information that could affect behavior or measurement.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33756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5B8A"/>
                </a:solidFill>
                <a:latin typeface="Aptos"/>
              </a:rPr>
              <a:t>SINGLE-BLIND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21F34"/>
                </a:solidFill>
                <a:latin typeface="Aptos"/>
              </a:rPr>
              <a:t>One side does not know the assigned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52D37"/>
                </a:solidFill>
                <a:latin typeface="Aptos"/>
              </a:rPr>
              <a:t>For example, participants may not know which treatment they receive.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333756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9807A"/>
                </a:solidFill>
                <a:latin typeface="Aptos"/>
              </a:rPr>
              <a:t>DOUBLE-BLIND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21F34"/>
                </a:solidFill>
                <a:latin typeface="Aptos"/>
              </a:rPr>
              <a:t>Neither side knows the assigned treatment.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0332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52D37"/>
                </a:solidFill>
                <a:latin typeface="Aptos"/>
              </a:rPr>
              <a:t>Participants and researchers who interact with them do not know treatment assignments.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WHY REPLICATION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One experimental unit per treatment tells us almost nothing about natural variation.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74920" cy="3429000"/>
          </a:xfrm>
          <a:prstGeom prst="roundRect">
            <a:avLst/>
          </a:prstGeom>
          <a:solidFill>
            <a:srgbClr val="F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84848"/>
                </a:solidFill>
                <a:latin typeface="Aptos"/>
              </a:rPr>
              <a:t>WEAK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21F34"/>
                </a:solidFill>
                <a:latin typeface="Aptos"/>
              </a:rPr>
              <a:t>1 student → A</a:t>
            </a:r>
            <a:br/>
            <a:r>
              <a:t>1 student →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4297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52D37"/>
                </a:solidFill>
                <a:latin typeface="Aptos"/>
              </a:rPr>
              <a:t>Any difference could simply reflect individual variation.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74920" cy="342900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9807A"/>
                </a:solidFill>
                <a:latin typeface="Aptos"/>
              </a:rPr>
              <a:t>REPLICATED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8892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21F34"/>
                </a:solidFill>
                <a:latin typeface="Aptos"/>
              </a:rPr>
              <a:t>Many students → A</a:t>
            </a:r>
            <a:br/>
            <a:r>
              <a:t>Many students →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977639"/>
            <a:ext cx="4297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52D37"/>
                </a:solidFill>
                <a:latin typeface="Aptos"/>
              </a:rPr>
              <a:t>More than one unit receives each treatment, allowing treatment effects to be compared against natural variation.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9050-476F-35D2-7AFD-1F7DF7F7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4A4FF0-A96B-7A56-0524-F8EA01711B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91E39-AB77-C027-EB0E-AC77B71EF2CE}"/>
              </a:ext>
            </a:extLst>
          </p:cNvPr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TWO KINDS OF RANDOMNESS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7D79D-8ED3-0228-01F7-4D82C44776EE}"/>
              </a:ext>
            </a:extLst>
          </p:cNvPr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Random selection and random assignment answer different questions.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C7CEB0-4B04-7DC3-AA15-C432C256AEF1}"/>
              </a:ext>
            </a:extLst>
          </p:cNvPr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502C39-C784-036B-0D93-5DB20AEB7369}"/>
              </a:ext>
            </a:extLst>
          </p:cNvPr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17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23ECC9ED-3FD2-0EB4-C1E6-3D1CB00C25D9}"/>
              </a:ext>
            </a:extLst>
          </p:cNvPr>
          <p:cNvSpPr/>
          <p:nvPr/>
        </p:nvSpPr>
        <p:spPr>
          <a:xfrm>
            <a:off x="792480" y="1737360"/>
            <a:ext cx="5074920" cy="150876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4EEBABF-93DC-7535-A261-217345DC8B49}"/>
              </a:ext>
            </a:extLst>
          </p:cNvPr>
          <p:cNvSpPr txBox="1"/>
          <p:nvPr/>
        </p:nvSpPr>
        <p:spPr>
          <a:xfrm>
            <a:off x="1021080" y="19659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92B58"/>
                </a:solidFill>
                <a:latin typeface="Aptos"/>
              </a:rPr>
              <a:t>Random selection ✓</a:t>
            </a:r>
            <a:br/>
            <a:r>
              <a:t>Random assignment ✓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9FA10922-CA32-7589-47AC-1C2C080BDBA4}"/>
              </a:ext>
            </a:extLst>
          </p:cNvPr>
          <p:cNvSpPr txBox="1"/>
          <p:nvPr/>
        </p:nvSpPr>
        <p:spPr>
          <a:xfrm>
            <a:off x="3352800" y="1965960"/>
            <a:ext cx="2148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26A977"/>
                </a:solidFill>
                <a:latin typeface="Aptos"/>
              </a:rPr>
              <a:t>Generalize + cause &amp; effect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97871444-38F4-AB18-BA61-DD0137913AFD}"/>
              </a:ext>
            </a:extLst>
          </p:cNvPr>
          <p:cNvSpPr/>
          <p:nvPr/>
        </p:nvSpPr>
        <p:spPr>
          <a:xfrm>
            <a:off x="6324600" y="1737360"/>
            <a:ext cx="5074920" cy="150876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9189A457-1097-1B44-E2EA-103B3F03BC83}"/>
              </a:ext>
            </a:extLst>
          </p:cNvPr>
          <p:cNvSpPr txBox="1"/>
          <p:nvPr/>
        </p:nvSpPr>
        <p:spPr>
          <a:xfrm>
            <a:off x="6553200" y="19659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92B58"/>
                </a:solidFill>
                <a:latin typeface="Aptos"/>
              </a:rPr>
              <a:t>Random selection ✓</a:t>
            </a:r>
            <a:br/>
            <a:r>
              <a:t>Random assignment ✕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C59F25E3-0E85-DDBF-32EA-574D13EEEB67}"/>
              </a:ext>
            </a:extLst>
          </p:cNvPr>
          <p:cNvSpPr txBox="1"/>
          <p:nvPr/>
        </p:nvSpPr>
        <p:spPr>
          <a:xfrm>
            <a:off x="8884920" y="1965960"/>
            <a:ext cx="2148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345BD2"/>
                </a:solidFill>
                <a:latin typeface="Aptos"/>
              </a:rPr>
              <a:t>Generalize; no causal claim</a:t>
            </a:r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2F34FC2C-9D26-3232-1FAA-FE2337ED4568}"/>
              </a:ext>
            </a:extLst>
          </p:cNvPr>
          <p:cNvSpPr/>
          <p:nvPr/>
        </p:nvSpPr>
        <p:spPr>
          <a:xfrm>
            <a:off x="792480" y="3611880"/>
            <a:ext cx="5074920" cy="150876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0C5D6B48-E85F-F9D1-CED8-0336224D10F1}"/>
              </a:ext>
            </a:extLst>
          </p:cNvPr>
          <p:cNvSpPr txBox="1"/>
          <p:nvPr/>
        </p:nvSpPr>
        <p:spPr>
          <a:xfrm>
            <a:off x="1021080" y="384048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92B58"/>
                </a:solidFill>
                <a:latin typeface="Aptos"/>
              </a:rPr>
              <a:t>Random selection ✕</a:t>
            </a:r>
            <a:br/>
            <a:r>
              <a:t>Random assignment ✓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254EF9BE-0630-3C87-E943-FCA290EFE52A}"/>
              </a:ext>
            </a:extLst>
          </p:cNvPr>
          <p:cNvSpPr txBox="1"/>
          <p:nvPr/>
        </p:nvSpPr>
        <p:spPr>
          <a:xfrm>
            <a:off x="3352800" y="3840480"/>
            <a:ext cx="2148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69E0B"/>
                </a:solidFill>
                <a:latin typeface="Aptos"/>
              </a:rPr>
              <a:t>Cause &amp; effect for similar units;</a:t>
            </a:r>
            <a:br/>
            <a:r>
              <a:t>limited generalization</a:t>
            </a:r>
          </a:p>
        </p:txBody>
      </p:sp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20E5DCE7-92BE-C8B2-9DED-C6B4AD94B417}"/>
              </a:ext>
            </a:extLst>
          </p:cNvPr>
          <p:cNvSpPr/>
          <p:nvPr/>
        </p:nvSpPr>
        <p:spPr>
          <a:xfrm>
            <a:off x="6324600" y="3611880"/>
            <a:ext cx="5074920" cy="1508760"/>
          </a:xfrm>
          <a:prstGeom prst="roundRect">
            <a:avLst/>
          </a:prstGeom>
          <a:solidFill>
            <a:srgbClr val="FF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2054EA4C-9533-8F8A-729D-51C652551AF7}"/>
              </a:ext>
            </a:extLst>
          </p:cNvPr>
          <p:cNvSpPr txBox="1"/>
          <p:nvPr/>
        </p:nvSpPr>
        <p:spPr>
          <a:xfrm>
            <a:off x="6553200" y="384048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92B58"/>
                </a:solidFill>
                <a:latin typeface="Aptos"/>
              </a:rPr>
              <a:t>Random selection ✕</a:t>
            </a:r>
            <a:br/>
            <a:r>
              <a:t>Random assignment ✕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EF2FA9EC-42A0-E654-E336-93B047AC8E97}"/>
              </a:ext>
            </a:extLst>
          </p:cNvPr>
          <p:cNvSpPr txBox="1"/>
          <p:nvPr/>
        </p:nvSpPr>
        <p:spPr>
          <a:xfrm>
            <a:off x="8884920" y="3840480"/>
            <a:ext cx="2148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EF4B5C"/>
                </a:solidFill>
                <a:latin typeface="Aptos"/>
              </a:rPr>
              <a:t>Limited generalization;</a:t>
            </a:r>
            <a:br/>
            <a:r>
              <a:t>no causal claim</a:t>
            </a:r>
          </a:p>
        </p:txBody>
      </p:sp>
    </p:spTree>
    <p:extLst>
      <p:ext uri="{BB962C8B-B14F-4D97-AF65-F5344CB8AC3E}">
        <p14:creationId xmlns:p14="http://schemas.microsoft.com/office/powerpoint/2010/main" val="1611130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AP STATISTICS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Write the conclusion that the design actually supports.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429000"/>
          </a:xfrm>
          <a:prstGeom prst="roundRect">
            <a:avLst/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9807A"/>
                </a:solidFill>
                <a:latin typeface="Aptos"/>
              </a:rPr>
              <a:t>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3891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F34"/>
                </a:solidFill>
                <a:latin typeface="Aptos"/>
              </a:rPr>
              <a:t>“Because students were randomly assigned to the two study techniques, a statistically significant difference in test scores would provide evidence that the treatment caused the difference.”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66360" cy="3429000"/>
          </a:xfrm>
          <a:prstGeom prst="roundRect">
            <a:avLst/>
          </a:prstGeom>
          <a:solidFill>
            <a:srgbClr val="F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84848"/>
                </a:solidFill>
                <a:latin typeface="Aptos"/>
              </a:rPr>
              <a:t>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389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21F34"/>
                </a:solidFill>
                <a:latin typeface="Aptos"/>
              </a:rPr>
              <a:t>“The results prove the new method works for every student because the experiment was random.”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60520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84848"/>
                </a:solidFill>
                <a:latin typeface="Aptos"/>
              </a:rPr>
              <a:t>Why? It confuses random assignment with random selection and overstates the conclusion.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DESIGN DETECTIVE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For each study, decide what the design supports.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94360" cy="59436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94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10512"/>
            <a:ext cx="6583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Students choose whether to use a new study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28800"/>
            <a:ext cx="288036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9912" y="1847088"/>
            <a:ext cx="2734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Observational / self-selected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594360" cy="59436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94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044952"/>
            <a:ext cx="6583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Students are randomly assigned to app or no-app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063240"/>
            <a:ext cx="288036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3081528"/>
            <a:ext cx="2734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Experiment with random assignment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97680"/>
            <a:ext cx="594360" cy="59436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594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79392"/>
            <a:ext cx="6583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A random sample of students is surveyed about app use and grades.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297680"/>
            <a:ext cx="2880360" cy="384048"/>
          </a:xfrm>
          <a:prstGeom prst="roundRect">
            <a:avLst/>
          </a:prstGeom>
          <a:solidFill>
            <a:srgbClr val="FA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4315968"/>
            <a:ext cx="2734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A43E"/>
                </a:solidFill>
                <a:latin typeface="Aptos"/>
              </a:rPr>
              <a:t>Random selection, no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7150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9807A"/>
                </a:solidFill>
                <a:latin typeface="Aptos"/>
              </a:rPr>
              <a:t>Ask: Cause &amp; effect? Generalize? Possible confounding?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Build the study-technique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" cy="50292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64792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Identify the experimental units, factor, treatments, and response variable.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24328"/>
            <a:ext cx="502920" cy="50292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42616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4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Choose a design: completely randomized, randomized block, or matched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65576"/>
            <a:ext cx="502920" cy="50292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483864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4728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Describe exactly how random assignment will be carried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06824"/>
            <a:ext cx="502920" cy="50292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32511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88536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Explain what should be controlled and whether blinding is 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48072"/>
            <a:ext cx="502920" cy="502920"/>
          </a:xfrm>
          <a:prstGeom prst="roundRect">
            <a:avLst/>
          </a:prstGeom>
          <a:solidFill>
            <a:srgbClr val="29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66359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9784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Aptos"/>
              </a:rPr>
              <a:t>Explain what conclusion the design could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LESSON 4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Experimental design is about making fair comparisons.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56231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5B8A"/>
                </a:solidFill>
                <a:latin typeface="Aptos"/>
              </a:rPr>
              <a:t>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810512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Researchers assign treatments.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56231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9807A"/>
                </a:solidFill>
                <a:latin typeface="Aptos"/>
              </a:rPr>
              <a:t>Random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10512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Balances extraneous variation across treatment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16352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35224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5B8A"/>
                </a:solidFill>
                <a:latin typeface="Aptos"/>
              </a:rPr>
              <a:t>Control +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89504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Creates a meaningful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16352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935224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9807A"/>
                </a:solidFill>
                <a:latin typeface="Aptos"/>
              </a:rPr>
              <a:t>Replication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89504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Uses multiple experimental units per treatment.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95344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14215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5B8A"/>
                </a:solidFill>
                <a:latin typeface="Aptos"/>
              </a:rPr>
              <a:t>Blocking / matched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68496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Controls a known source of response variation.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95344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014215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9807A"/>
                </a:solidFill>
                <a:latin typeface="Aptos"/>
              </a:rPr>
              <a:t>Blinding / placebo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68496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Reduces effects of expectations and measurement influence.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74336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093207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5B8A"/>
                </a:solidFill>
                <a:latin typeface="Aptos"/>
              </a:rPr>
              <a:t>Cause &amp; effect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047488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Supported by random assignment in a well-designed experiment.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74336"/>
            <a:ext cx="5074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5093207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9807A"/>
                </a:solidFill>
                <a:latin typeface="Aptos"/>
              </a:rPr>
              <a:t>Generalization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047488"/>
            <a:ext cx="2971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D37"/>
                </a:solidFill>
                <a:latin typeface="Aptos"/>
              </a:rPr>
              <a:t>Depends on how experimental units were selected.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5989320"/>
            <a:ext cx="8366760" cy="45720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6044184"/>
            <a:ext cx="7909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Random selection → generalization   |   Random assignment → causation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9807A"/>
                </a:solidFill>
                <a:latin typeface="Aptos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Can you separate sampling from experimental design?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613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21F34"/>
                </a:solidFill>
                <a:latin typeface="Aptos"/>
              </a:rPr>
              <a:t>1. Why does random assignment help support a cause-and-effect conclusion?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05613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9966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2. Explain the difference between stratifying a sample and blocking an experiment.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913632"/>
            <a:ext cx="9966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3. When would a matched pairs design be more appropriate than a completely randomized design?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105613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9966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4. An experiment uses volunteers but randomly assigns treatments. What can it conclude—and to whom?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989320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9807A"/>
                </a:solidFill>
                <a:latin typeface="Aptos"/>
              </a:rPr>
              <a:t>Use precise AP Statistics language in every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4754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5E6977"/>
                </a:solidFill>
                <a:latin typeface="Aptos"/>
              </a:rPr>
              <a:t>AP STATISTICS  •  UNIT 1  •  LESSON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E6977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1590</Words>
  <Application>Microsoft Office PowerPoint</Application>
  <PresentationFormat>Widescreen</PresentationFormat>
  <Paragraphs>282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Bellaquali</cp:lastModifiedBy>
  <cp:revision>2</cp:revision>
  <dcterms:created xsi:type="dcterms:W3CDTF">2013-01-27T09:14:16Z</dcterms:created>
  <dcterms:modified xsi:type="dcterms:W3CDTF">2026-09-15T18:10:36Z</dcterms:modified>
  <cp:category/>
</cp:coreProperties>
</file>