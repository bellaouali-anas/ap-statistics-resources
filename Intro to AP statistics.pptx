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magnet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Mean</c:v>
                  </c:pt>
                  <c:pt idx="1">
                    <c:v>Median</c:v>
                  </c:pt>
                  <c:pt idx="2">
                    <c:v>Mode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4.38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Inactive magnet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Mean</c:v>
                  </c:pt>
                  <c:pt idx="1">
                    <c:v>Median</c:v>
                  </c:pt>
                  <c:pt idx="2">
                    <c:v>Mode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8.43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31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948"/>
                </a:solidFill>
              </a:rPr>
              <a:t>COURSE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5087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 Statistics?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3383280"/>
            <a:ext cx="2194560" cy="0"/>
          </a:xfrm>
          <a:prstGeom prst="line">
            <a:avLst/>
          </a:prstGeom>
          <a:noFill/>
          <a:ln w="508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7490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AF7"/>
                </a:solidFill>
              </a:rPr>
              <a:t>A modern introduction to statistical thinking, data, and evidence.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989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ANAS BELLAOUALI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6309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AP Statistics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2104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📊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4523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→ Evidence → Decisions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26680" y="3154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AF7"/>
                </a:solidFill>
              </a:rPr>
              <a:t>We do not only calculate.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9EAF7"/>
                </a:solidFill>
              </a:rPr>
              <a:t>We interpret what data means.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MINDSET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 Stats is challenging — in a good way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It rewards active thinking, precise language, and consistent practice.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755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Vocabulary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08483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Statistics has many special words. Using them precisely is part of the course.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755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Be active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08483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You will discuss, justify, compare, and explain your reasoning in class.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755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Writing matters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208483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AP Statistics is not only calculations. Strong written explanations are essential.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4754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Your mission: show that you understand the data, the method, and the conclusion.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MINDSET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succeed in this class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Habits that turn AP Statistics from difficult to manageable.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48640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F2937"/>
                </a:solidFill>
              </a:rPr>
              <a:t>Come prepared and stay engaged every class.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Work with different classmates and explain your reasoning aloud.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Complete assignments and check your understanding, not only your answers.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Read the textbook: not everything can be covered during class.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Use complete sentences and data-based evidence.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949440" y="1645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POWER MOVE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20574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</a:rPr>
              <a:t>Be precise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02A43"/>
                </a:solidFill>
              </a:rPr>
              <a:t>with your words.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99516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 small wording change can change the meaning of a statistical conclusion.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A6"/>
                </a:solidFill>
              </a:rPr>
              <a:t>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🧭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7452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Roadmap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74520" y="2788920"/>
            <a:ext cx="548640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What we will learn across the AP Statistics course.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82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AP Statistics • Course 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taught in AP Statistics?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course is a story about data, chance, and decision-making.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Data Analysis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192024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Organize, describe, compare, and model data.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Collecting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2084832"/>
            <a:ext cx="192024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Design surveys, studies, and experiments thoughtfully.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Probability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2084832"/>
            <a:ext cx="192024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probability to describe uncertainty and simulation.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8116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29800" y="1755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Inference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29800" y="2084832"/>
            <a:ext cx="192024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samples to make conclusions about populations.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9834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We move from describing what happened → to explaining how confident we are.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 — Data Analysis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Making sense of patterns in data.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7099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Visualize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03911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graphs such as dotplots, histograms, boxplots, and scatterplots.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7099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Describe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03911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Communicate shape, center, spread, unusual features, and context.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7099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203911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Use regression models to predict a response variable from an explanatory variable.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Core idea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5720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Statistics begins by turning raw data into a clear picture and an evidence-based description.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rest of the course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Data collection, chance, and making decisions from samples.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7099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Experimental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03911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How do we create fair comparisons and investigate cause-and-effect?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7099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Probability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03911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How do we model randomness, simulations, binomial and geometric settings?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7099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Inference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203911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How do we use samples to estimate, test claims, and draw careful conclusions?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4709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Inference is the “big one”: using sample data to reason about a larger population.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</a:rPr>
              <a:t>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🧠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7452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Thinking Rules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74520" y="2788920"/>
            <a:ext cx="5486400" cy="0"/>
          </a:xfrm>
          <a:prstGeom prst="line">
            <a:avLst/>
          </a:prstGeom>
          <a:noFill/>
          <a:ln w="38100">
            <a:solidFill>
              <a:srgbClr val="F7C9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The questions you should ask before doing calculations.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82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AP Statistics • Course 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THINKING RULES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solving, ask better questions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Good statistics starts before the calculation.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6A6"/>
                </a:solidFill>
              </a:rPr>
              <a:t>WHO?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Who are the individuals?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C948"/>
                </a:solidFill>
              </a:rPr>
              <a:t>WHAT?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0391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What variables are measured?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HOW?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75320" y="20391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How was the data collected?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6A6"/>
                </a:solidFill>
              </a:rPr>
              <a:t>WHY?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3959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Why was the data collected?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C948"/>
                </a:solidFill>
              </a:rPr>
              <a:t>WHERE/WHEN?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3959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Where and when was the data produced?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WHOM?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3959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Who collected it, and could there be bias?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THINKING RULES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Rules for strong AP Statistics responses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Your explanations must be clear, justified, and careful.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530352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20" dirty="0">
                <a:solidFill>
                  <a:srgbClr val="1F2937"/>
                </a:solidFill>
              </a:rPr>
              <a:t>Read questions carefully and identify exactly what is being asked.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Use only information given in the problem or supported by the data.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Use data to support your answer: no evidence means a weak answer.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Interpret results in context, not as isolated numbers.</a:t>
            </a:r>
            <a:endParaRPr lang="en-US" sz="1620" dirty="0"/>
          </a:p>
          <a:p>
            <a:r>
              <a:rPr lang="en-US" sz="1620" dirty="0">
                <a:solidFill>
                  <a:srgbClr val="1F2937"/>
                </a:solidFill>
              </a:rPr>
              <a:t>Avoid overclaiming. Be careful with cause-and-effect language.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685800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Weak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</a:rPr>
              <a:t>“The magnets worked.”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0" y="2788920"/>
            <a:ext cx="4023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Stronger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3566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“The active group reported lower pain ratings, but we need to examine the study design before making a causal conclusion.”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</a:rPr>
              <a:t>03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🧲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7452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Study: Magnets &amp; Pain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74520" y="2788920"/>
            <a:ext cx="548640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Use data to compare groups — but avoid jumping to conclusions.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82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AP Statistics • Course 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CASE 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magnets reduce pain?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study recruited 50 polio patients and recorded pain ratings after treatment.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475488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Pain scale: 0 = mild, 10 = severe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29 patients received active magnets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21 patients received inactive magnets (placebo)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Question: Do the data suggest lower pain ratings?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First statistical question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</a:rPr>
              <a:t>Which statistics should we compare?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Mean? Median? Mode? Quartiles? Spread?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CASE 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 the summaries show?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Active magnet patients reported lower pain ratings than the inactive group.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554480"/>
          <a:ext cx="6675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0010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What we can say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0" y="22402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The active group had lower mean, median, and mode pain ratings.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0100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What we cannot say yet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01000" y="384048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We cannot conclude that magnets caused lower pain without checking the study design.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CASE 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making conclusions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statistical result is only as strong as the design behind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184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Random assignment?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4767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How were patients assigned to active or inactive magnets?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6184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Double-blind?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94767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Did patients and researchers know which treatment was used?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6184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Confounding variables?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94767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Could age, pain severity, or other characteristics explain differences?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AP rule: describe what the data suggest, then check whether the design supports a stronger conclusion.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A6"/>
                </a:solidFill>
              </a:rPr>
              <a:t>04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🧩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7452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of Data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74520" y="2788920"/>
            <a:ext cx="548640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Individuals, populations, samples, variables, and variable types.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82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AP Statistics • Course 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LANGUAGE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building blocks of a dataset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Every statistical problem has people/things and characteristics measured on them.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Individuals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47672"/>
            <a:ext cx="201168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The people or things being measured.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Population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1947672"/>
            <a:ext cx="201168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The entire group we care about.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Sample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1947672"/>
            <a:ext cx="201168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 smaller group selected from the population.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9828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46920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Variables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46920" y="1947672"/>
            <a:ext cx="201168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The characteristics measured or recorded.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" y="3922776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4E78"/>
                </a:solidFill>
              </a:rPr>
              <a:t>Term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108192" y="3922776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4E78"/>
                </a:solidFill>
              </a:rPr>
              <a:t>Example from magnet study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987552" y="4261104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Individual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108192" y="4261104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A person with polio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987552" y="4599432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Population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108192" y="4599432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All people with polio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87552" y="4937760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Sample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108192" y="4937760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The 50 recruited patients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987552" y="5276088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Variables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108192" y="5276088"/>
            <a:ext cx="5065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Treatment group and pain rating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960120" y="4224528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4562856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4901184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5239512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LANGUAGE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Categorical vs. quantitative variables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Ask: is this a category, or is it a measurable/countable quantity?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🏷️ Categorical Variables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Values describe qualities or groups. They are analyzed using counts, frequencies, and percentages.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Examples: gender, handedness, music type, team.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📏 Quantitative Variables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Values are numerical measurements or counts with meaningful units. They are analyzed using means, medians, standard deviations, and more.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Examples: height, age, homework time, income.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49834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Warning: numbers are not always quantitative. Zip codes and ID numbers are labels.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LANGUAGE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classify the variables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For quantitative variables, include the unit.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154533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4E78"/>
                </a:solidFill>
              </a:rPr>
              <a:t>Variable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55592" y="154533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4E78"/>
                </a:solidFill>
              </a:rPr>
              <a:t>Type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69352" y="154533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4E78"/>
                </a:solidFill>
              </a:rPr>
              <a:t>Unit if quantitative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41832" y="213969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Gender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55592" y="213969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Categorical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69352" y="213969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—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41832" y="273405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Handedness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355592" y="273405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Categorical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69352" y="273405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—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41832" y="332841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Height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55592" y="332841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Quantitative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69352" y="332841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inches / cm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41832" y="392277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Homework time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55592" y="392277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Quantitative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69352" y="392277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minutes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41832" y="451713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Music type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55592" y="451713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Categorical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69352" y="451713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—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1832" y="511149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Coins in pocket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355592" y="511149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Quantitative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69352" y="5111496"/>
            <a:ext cx="3358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number of coins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14400" y="2103120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2697480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3291840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3886200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4480560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5074920"/>
            <a:ext cx="1024128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LANGUAGE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NBA player data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dataset can contain both categorical and quantitative variables.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45389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4E78"/>
                </a:solidFill>
              </a:rPr>
              <a:t>Variable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2724912" y="145389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4E78"/>
                </a:solidFill>
              </a:rPr>
              <a:t>Type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553712" y="145389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4E78"/>
                </a:solidFill>
              </a:rPr>
              <a:t>Unit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96112" y="199682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Player name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724912" y="199682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Categorical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53712" y="199682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—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96112" y="253974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Team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724912" y="253974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Categorical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53712" y="253974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—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96112" y="308267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Position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2724912" y="308267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Categorical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553712" y="308267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—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96112" y="362559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Age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2724912" y="362559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Quantitative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553712" y="362559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years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96112" y="416852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Height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724912" y="416852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Quantitative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553712" y="416852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feet/inches or cm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96112" y="471144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Weight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2724912" y="471144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Quantitative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4553712" y="4711446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pounds or kg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96112" y="525437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Salary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2724912" y="525437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Quantitative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4553712" y="5254371"/>
            <a:ext cx="1773936" cy="469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millions of dollars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868680" y="1960245"/>
            <a:ext cx="54864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2503170"/>
            <a:ext cx="54864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3046095"/>
            <a:ext cx="54864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3589020"/>
            <a:ext cx="54864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4131945"/>
            <a:ext cx="54864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4674870"/>
            <a:ext cx="54864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5217795"/>
            <a:ext cx="54864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A6"/>
                </a:solidFill>
              </a:rPr>
              <a:t>Key question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15200" y="24688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What is being measured, and does the number have meaningful units?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7315200" y="4160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This prevents mistakes with ID numbers, postal codes, and jersey numbers.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LANGUAGE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Lurking vs. confounding variables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Both can make associations misleading, but they are not exactly the same.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59105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55592" y="159105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Lurking variable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06512" y="159105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Confounding variable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59689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Basic idea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55592" y="259689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Unmeasured variable that affects the response.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6512" y="259689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Variable whose effect is mixed with the explanatory variable.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360273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55592" y="360273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Can create a misleading association.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6512" y="360273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Makes it difficult to identify the true cause.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460857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Question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55592" y="460857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What else might be affecting this?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06512" y="4608576"/>
            <a:ext cx="3496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Can we separate the two effects?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2560320"/>
            <a:ext cx="1065276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66160"/>
            <a:ext cx="1065276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72000"/>
            <a:ext cx="1065276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C948"/>
                </a:solidFill>
              </a:rPr>
              <a:t>05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🧪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7452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Collecting Data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74520" y="2788920"/>
            <a:ext cx="5486400" cy="0"/>
          </a:xfrm>
          <a:prstGeom prst="line">
            <a:avLst/>
          </a:prstGeom>
          <a:noFill/>
          <a:ln w="38100">
            <a:solidFill>
              <a:srgbClr val="F7C9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Surveys, observational studies, and experiments.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82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AP Statistics • Course 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COLLECTING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ways to collect data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method affects what conclusions we can make.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Survey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Ask questions and record responses. Useful for opinions, habits, and self-reported information.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Observational Study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Observe subjects and measure variables without applying treatments. Can show association, not causation.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Experiment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Apply treatments to groups and measure responses. With control and random assignment, can support causation.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The same question can require different methods depending on what we want to learn.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COLLECTING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survey, observation, or experiment?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Classify each situation and justify your answer.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Sleep and performance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300 students are monitored. Their usual sleep duration, test scores, and participation are recorded.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Cell phones and cancer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150 volunteers are assigned a cell phone use schedule, then receive regular MRI scans.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Coffee and studying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Researchers observe students’ coffee drinking habits and compare academic performance.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50292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Answer format: “This is a ___ because ___.”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COLLECTING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discussion: answers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classification depends on whether a treatment is imposed.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68249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F4E78"/>
                </a:solidFill>
              </a:rPr>
              <a:t>Scenario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4340352" y="168249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F4E78"/>
                </a:solidFill>
              </a:rPr>
              <a:t>Classification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7921752" y="168249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F4E78"/>
                </a:solidFill>
              </a:rPr>
              <a:t>Why?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758952" y="252831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Sleep and performance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4340352" y="252831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Observational study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921752" y="252831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Students are monitored; nothing is imposed to change behavior.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Cell phones and cancer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4340352" y="337413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Experiment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7921752" y="337413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Volunteers are assigned a cell phone use schedule.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758952" y="421995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Coffee and studying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4340352" y="421995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Observational study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7921752" y="4219956"/>
            <a:ext cx="352653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</a:rPr>
              <a:t>Researchers observe habits; they do not assign coffee use.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731520" y="2491740"/>
            <a:ext cx="107442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337560"/>
            <a:ext cx="107442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183380"/>
            <a:ext cx="10744200" cy="0"/>
          </a:xfrm>
          <a:prstGeom prst="line">
            <a:avLst/>
          </a:prstGeom>
          <a:noFill/>
          <a:ln w="6350">
            <a:solidFill>
              <a:srgbClr val="CBD5E1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COLLECTING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the best approach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Think about honesty, ethics, feasibility, and causation.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Handwashing percentage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Survey answers may be dishonest; observation may be more accurate but raises privacy concerns.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Stress and heart disease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Many confounding variables exist. Controlled experiments can investigate mechanisms, but ethical limits matter.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Music while studying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An experiment can compare learning with and without music under controlled conditions.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50292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Best answer = method + justification + limitation.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A6"/>
                </a:solidFill>
              </a:rPr>
              <a:t>06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📈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74520" y="18288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Describing Distributions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74520" y="2788920"/>
            <a:ext cx="5486400" cy="0"/>
          </a:xfrm>
          <a:prstGeom prst="line">
            <a:avLst/>
          </a:prstGeom>
          <a:noFill/>
          <a:ln w="381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3154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Center, spread, shape, and unusual features.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82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AP Statistics • Course 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DISTRIBUTIONS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distribution?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distribution shows which values occur and how often they occur.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Center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Where is a typical value? Mean, median, mode, or middle region.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↔️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Spread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How much do values vary? Range, quartiles, IQR, standard deviation.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Shape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Is it symmetric, skewed, unimodal, bimodal, or uniform?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Also look for unusual features: gaps, clusters, and outliers.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DISTRIBUTIONS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 vocabulary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 shape words to describe the overall pattern, not a single bar or point.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Symmetric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933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Two sides are approximately mirror images.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Skewed right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19933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Longer tail extends to the right.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C948"/>
                </a:solidFill>
              </a:rPr>
              <a:t>Skewed left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19933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Longer tail extends to the left.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6A6"/>
                </a:solidFill>
              </a:rPr>
              <a:t>Uniform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8679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Frequencies are roughly similar.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Unimodal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8679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One main peak.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C948"/>
                </a:solidFill>
              </a:rPr>
              <a:t>Bimodal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38679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Two noticeable peaks.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DISTRIBUTIONS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Bell curve: be specific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Not every curved, rounded, or peaked graph is a normal distribution.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A bell curve has: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3891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1F2937"/>
                </a:solidFill>
              </a:rPr>
              <a:t>one central peak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approximate symmetry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tails on both sides</a:t>
            </a:r>
            <a:endParaRPr lang="en-US" sz="1650" dirty="0"/>
          </a:p>
          <a:p>
            <a:r>
              <a:rPr lang="en-US" sz="1650" dirty="0">
                <a:solidFill>
                  <a:srgbClr val="1F2937"/>
                </a:solidFill>
              </a:rPr>
              <a:t>a specific distribution pattern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</a:rPr>
              <a:t>Do not call every shape a bell curve.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2940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 semicircle, parabola, or triangle is not automatically a statistical bell curve.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DISTRIBUTIONS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Dotplots: compare groups with evidence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Example: students who attended tutorials vs. those who did not.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Compare center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Which group tends to have higher scores? Support with median/mean.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↔️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Compare spread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Which group has more variability? Support with range or IQR.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Check conditions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32520" y="1993392"/>
            <a:ext cx="26517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Can we conclude tutorials caused higher scores, or are there other explanations?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Use the graph + statistics + context to make a careful claim.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HOMEWORK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92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 Statistics • Course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first assignment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Prepare for the next class by reviewing the basics.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Homework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77724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</a:rPr>
              <a:t>Read pages 3–33 in your textbook.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</a:rPr>
              <a:t>Complete questions: P30 — Q19, Q21, Q24.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</a:rPr>
              <a:t>Bring your questions to the next class.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074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6A6"/>
                </a:solidFill>
              </a:rPr>
              <a:t>Next: exploring quantitative data with graphs and technology.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0: What is AP Statistics?</dc:title>
  <dc:subject>Redesigned AP Statistics introductory course deck</dc:subject>
  <dc:creator>ANAS BELLAOUALI</dc:creator>
  <cp:lastModifiedBy>ANAS BELLAOUALI</cp:lastModifiedBy>
  <cp:revision>1</cp:revision>
  <dcterms:created xsi:type="dcterms:W3CDTF">2026-09-11T15:17:50Z</dcterms:created>
  <dcterms:modified xsi:type="dcterms:W3CDTF">2026-09-11T15:17:50Z</dcterms:modified>
</cp:coreProperties>
</file>