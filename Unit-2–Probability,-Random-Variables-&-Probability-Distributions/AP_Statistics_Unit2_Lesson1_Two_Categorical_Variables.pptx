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8A65A9-4D1F-461C-9357-2711F1B77AD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197A1-7A6F-4C74-A2D1-5C00F9D27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976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5798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54"/>
          </a:solidFill>
          <a:ln w="12700">
            <a:solidFill>
              <a:srgbClr val="172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321040" y="137160"/>
            <a:ext cx="3657600" cy="3657600"/>
          </a:xfrm>
          <a:prstGeom prst="ellipse">
            <a:avLst/>
          </a:prstGeom>
          <a:solidFill>
            <a:srgbClr val="3157D5">
              <a:alpha val="80000"/>
            </a:srgbClr>
          </a:solidFill>
          <a:ln w="12700">
            <a:solidFill>
              <a:srgbClr val="3157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0" y="4251960"/>
            <a:ext cx="2743200" cy="2423160"/>
          </a:xfrm>
          <a:prstGeom prst="ellipse">
            <a:avLst/>
          </a:prstGeom>
          <a:solidFill>
            <a:srgbClr val="22A6B3">
              <a:alpha val="70000"/>
            </a:srgbClr>
          </a:solidFill>
          <a:ln w="12700">
            <a:solidFill>
              <a:srgbClr val="22A6B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658368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" y="726948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FFFFF"/>
                </a:solidFill>
              </a:rPr>
              <a:t>AP STATISTICS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6858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3700" b="1">
                <a:solidFill>
                  <a:srgbClr val="FFFFFF"/>
                </a:solidFill>
                <a:latin typeface="Aptos"/>
              </a:defRPr>
            </a:pPr>
            <a:r>
              <a:rPr lang="en-US" sz="4400" dirty="0"/>
              <a:t>Exploring Two</a:t>
            </a:r>
            <a:br>
              <a:rPr lang="en-US" sz="4400" dirty="0"/>
            </a:br>
            <a:r>
              <a:rPr lang="en-US" sz="4400" dirty="0"/>
              <a:t>Categorical Variables</a:t>
            </a:r>
          </a:p>
        </p:txBody>
      </p:sp>
      <p:sp>
        <p:nvSpPr>
          <p:cNvPr id="8" name="Text 6"/>
          <p:cNvSpPr/>
          <p:nvPr/>
        </p:nvSpPr>
        <p:spPr>
          <a:xfrm>
            <a:off x="713232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9C7FF"/>
                </a:solidFill>
              </a:rPr>
              <a:t>Lesson 1  •  Unit 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3749040"/>
            <a:ext cx="66294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What happens when we study two categorical variables together?</a:t>
            </a:r>
          </a:p>
        </p:txBody>
      </p:sp>
      <p:sp>
        <p:nvSpPr>
          <p:cNvPr id="10" name="Text 8"/>
          <p:cNvSpPr/>
          <p:nvPr/>
        </p:nvSpPr>
        <p:spPr>
          <a:xfrm>
            <a:off x="713232" y="61447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9FB0E9"/>
                </a:solidFill>
              </a:rPr>
              <a:t>ANAS BELLAOUALI  •  AP STATISTICS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58200" y="123444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869680" y="123444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281160" y="123444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692640" y="123444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104120" y="123444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515600" y="123444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458200" y="164592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869680" y="164592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281160" y="164592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692640" y="164592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104120" y="164592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515600" y="164592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458200" y="205740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869680" y="205740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281160" y="205740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692640" y="205740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0104120" y="205740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515600" y="205740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458200" y="246888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869680" y="246888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281160" y="246888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692640" y="246888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104120" y="246888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515600" y="246888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458200" y="288036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869680" y="288036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281160" y="288036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692640" y="28803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0104120" y="288036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0515600" y="288036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458200" y="329184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869680" y="329184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281160" y="329184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692640" y="329184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0104120" y="329184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0515600" y="329184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321040" y="39776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B9C7FF"/>
                </a:solidFill>
              </a:rPr>
              <a:t>POPULATION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LESSON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Our investigation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Can we discover a relationship between two categorical variables?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5212080" cy="2743200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1993392"/>
            <a:ext cx="479145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345BD2"/>
                </a:solidFill>
                <a:latin typeface="Aptos"/>
              </a:defRPr>
            </a:pPr>
            <a:r>
              <a:t>Variable A — screen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423160"/>
            <a:ext cx="4791456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E273A"/>
                </a:solidFill>
                <a:latin typeface="Aptos"/>
              </a:defRPr>
            </a:pPr>
            <a:r>
              <a:t>Low • Moderate • High</a:t>
            </a:r>
            <a:br/>
            <a:br/>
            <a:r>
              <a:t>Screen-time hours have been grouped into categories.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5212080" cy="2743200"/>
          </a:xfrm>
          <a:prstGeom prst="round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1993392"/>
            <a:ext cx="479145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26A977"/>
                </a:solidFill>
                <a:latin typeface="Aptos"/>
              </a:defRPr>
            </a:pPr>
            <a:r>
              <a:t>Variable B — sleep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423160"/>
            <a:ext cx="4791456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E273A"/>
                </a:solidFill>
                <a:latin typeface="Aptos"/>
              </a:defRPr>
            </a:pPr>
            <a:r>
              <a:t>Good • Poor</a:t>
            </a:r>
            <a:br/>
            <a:br/>
            <a:r>
              <a:t>We investigate an association, not whether screen time causes poor sleep.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5596128"/>
            <a:ext cx="10241280" cy="502920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5687568"/>
            <a:ext cx="9784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Individuals: students  |  Two variables measured for each student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LESSON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What will you be able to 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Our roadmap from raw counts to a statistical conclusion.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28800"/>
            <a:ext cx="5166360" cy="1389888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1993392"/>
            <a:ext cx="474573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345BD2"/>
                </a:solidFill>
                <a:latin typeface="Aptos"/>
              </a:defRPr>
            </a:pPr>
            <a:r>
              <a:t>01  Organize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23160"/>
            <a:ext cx="474573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E273A"/>
                </a:solidFill>
                <a:latin typeface="Aptos"/>
              </a:defRPr>
            </a:pPr>
            <a:r>
              <a:t>Build and interpret two-way tables.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828800"/>
            <a:ext cx="5166360" cy="1389888"/>
          </a:xfrm>
          <a:prstGeom prst="roundRect">
            <a:avLst/>
          </a:prstGeom>
          <a:solidFill>
            <a:srgbClr val="F4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5392" y="1993392"/>
            <a:ext cx="474573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6F4BEF"/>
                </a:solidFill>
                <a:latin typeface="Aptos"/>
              </a:defRPr>
            </a:pPr>
            <a:r>
              <a:t>02  Calculate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423160"/>
            <a:ext cx="474573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E273A"/>
                </a:solidFill>
                <a:latin typeface="Aptos"/>
              </a:defRPr>
            </a:pPr>
            <a:r>
              <a:t>Joint, marginal, and conditional relative frequencies.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474720"/>
            <a:ext cx="5166360" cy="1389888"/>
          </a:xfrm>
          <a:prstGeom prst="round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3639312"/>
            <a:ext cx="474573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26A977"/>
                </a:solidFill>
                <a:latin typeface="Aptos"/>
              </a:defRPr>
            </a:pPr>
            <a:r>
              <a:t>03  Visualize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069080"/>
            <a:ext cx="474573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E273A"/>
                </a:solidFill>
                <a:latin typeface="Aptos"/>
              </a:defRPr>
            </a:pPr>
            <a:r>
              <a:t>Side-by-side, segmented bar, and mosaic plots.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79" y="3474720"/>
            <a:ext cx="5166360" cy="1389888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65392" y="3639312"/>
            <a:ext cx="474573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345BD2"/>
                </a:solidFill>
                <a:latin typeface="Aptos"/>
              </a:defRPr>
            </a:pPr>
            <a:r>
              <a:t>04  Conclude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069080"/>
            <a:ext cx="474573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E273A"/>
                </a:solidFill>
                <a:latin typeface="Aptos"/>
              </a:defRPr>
            </a:pPr>
            <a:r>
              <a:t>Compare conditional distributions and discuss association.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LESSON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From one variable to two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A single percentage cannot reveal how two variables relate.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74519"/>
            <a:ext cx="5166360" cy="2926080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2039112"/>
            <a:ext cx="474573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345BD2"/>
                </a:solidFill>
                <a:latin typeface="Aptos"/>
              </a:defRPr>
            </a:pPr>
            <a:r>
              <a:t>One variable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68879"/>
            <a:ext cx="4745736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E273A"/>
                </a:solidFill>
                <a:latin typeface="Aptos"/>
              </a:defRPr>
            </a:pPr>
            <a:r>
              <a:t>55% of students report good sleep.</a:t>
            </a:r>
            <a:br/>
            <a:br/>
            <a:r>
              <a:t>Does that tell us which screen-time group they belong to?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74519"/>
            <a:ext cx="5166360" cy="2926080"/>
          </a:xfrm>
          <a:prstGeom prst="round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2039112"/>
            <a:ext cx="474573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26A977"/>
                </a:solidFill>
                <a:latin typeface="Aptos"/>
              </a:defRPr>
            </a:pPr>
            <a:r>
              <a:t>Two variables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468879"/>
            <a:ext cx="4745736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E273A"/>
                </a:solidFill>
                <a:latin typeface="Aptos"/>
              </a:defRPr>
            </a:pPr>
            <a:r>
              <a:t>We need counts for BOTH screen-time category and sleep quality for the SAME students.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5596128"/>
            <a:ext cx="10241280" cy="502920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5687568"/>
            <a:ext cx="9784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 two-way table organizes the joint distribution of two categorical variables.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LESSON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Construct a two-way frequency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Each interior cell counts students in both categories.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1874519"/>
            <a:ext cx="2880360" cy="580644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25296" y="1938527"/>
            <a:ext cx="274320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Screen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1874519"/>
            <a:ext cx="1965960" cy="580644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51376" y="1938527"/>
            <a:ext cx="182880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Good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874519"/>
            <a:ext cx="1965960" cy="580644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63056" y="1938527"/>
            <a:ext cx="182880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Poor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874519"/>
            <a:ext cx="1965960" cy="580644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74736" y="1938527"/>
            <a:ext cx="182880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Total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2496312"/>
            <a:ext cx="2880360" cy="580644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25296" y="2560320"/>
            <a:ext cx="274320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E273A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69080" y="2496312"/>
            <a:ext cx="1965960" cy="580644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51376" y="2560320"/>
            <a:ext cx="182880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E273A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2496312"/>
            <a:ext cx="1965960" cy="580644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63056" y="2560320"/>
            <a:ext cx="182880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E273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2496312"/>
            <a:ext cx="1965960" cy="580644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74736" y="2560320"/>
            <a:ext cx="182880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E273A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3118104"/>
            <a:ext cx="2880360" cy="5806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25296" y="3182112"/>
            <a:ext cx="274320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E273A"/>
                </a:solidFill>
                <a:latin typeface="Aptos"/>
              </a:defRPr>
            </a:pPr>
            <a:r>
              <a:t>Moderate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69080" y="3118104"/>
            <a:ext cx="1965960" cy="5806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51376" y="3182112"/>
            <a:ext cx="182880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E273A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80760" y="3118104"/>
            <a:ext cx="1965960" cy="5806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63056" y="3182112"/>
            <a:ext cx="182880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E273A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3118104"/>
            <a:ext cx="1965960" cy="5806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74736" y="3182112"/>
            <a:ext cx="182880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E273A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43000" y="3739896"/>
            <a:ext cx="2880360" cy="580644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25296" y="3803904"/>
            <a:ext cx="274320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E273A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69080" y="3739896"/>
            <a:ext cx="1965960" cy="580644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51376" y="3803904"/>
            <a:ext cx="182880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E273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80760" y="3739896"/>
            <a:ext cx="1965960" cy="580644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63056" y="3803904"/>
            <a:ext cx="182880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E273A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92440" y="3739896"/>
            <a:ext cx="1965960" cy="580644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74736" y="3803904"/>
            <a:ext cx="182880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E273A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43000" y="4361688"/>
            <a:ext cx="2880360" cy="5806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25296" y="4425696"/>
            <a:ext cx="274320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E273A"/>
                </a:solidFill>
                <a:latin typeface="Aptos"/>
              </a:defRPr>
            </a:pPr>
            <a:r>
              <a:t>Total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069080" y="4361688"/>
            <a:ext cx="1965960" cy="5806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151376" y="4425696"/>
            <a:ext cx="182880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E273A"/>
                </a:solidFill>
                <a:latin typeface="Aptos"/>
              </a:defRPr>
            </a:pPr>
            <a:r>
              <a:t>55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80760" y="4361688"/>
            <a:ext cx="1965960" cy="5806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163056" y="4425696"/>
            <a:ext cx="182880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E273A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2440" y="4361688"/>
            <a:ext cx="1965960" cy="5806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174736" y="4425696"/>
            <a:ext cx="182880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E273A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0120" y="5596128"/>
            <a:ext cx="10241280" cy="502920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188720" y="5687568"/>
            <a:ext cx="9784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Example: 25 students have LOW screen time AND GOOD sleep.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LESSON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Read the table carefully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Interior cells, row totals, column totals, and the grand total.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5212080" cy="1508760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1993392"/>
            <a:ext cx="479145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345BD2"/>
                </a:solidFill>
                <a:latin typeface="Aptos"/>
              </a:defRPr>
            </a:pPr>
            <a:r>
              <a:t>Interior cell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423160"/>
            <a:ext cx="4791456" cy="7772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E273A"/>
                </a:solidFill>
                <a:latin typeface="Aptos"/>
              </a:defRPr>
            </a:pPr>
            <a:r>
              <a:t>25 = Low screen time AND Good sleep.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5212080" cy="1508760"/>
          </a:xfrm>
          <a:prstGeom prst="round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1993392"/>
            <a:ext cx="479145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26A977"/>
                </a:solidFill>
                <a:latin typeface="Aptos"/>
              </a:defRPr>
            </a:pPr>
            <a:r>
              <a:t>Row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423160"/>
            <a:ext cx="4791456" cy="7772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E273A"/>
                </a:solidFill>
                <a:latin typeface="Aptos"/>
              </a:defRPr>
            </a:pPr>
            <a:r>
              <a:t>30 = All students with Low screen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5212080" cy="1508760"/>
          </a:xfrm>
          <a:prstGeom prst="roundRect">
            <a:avLst/>
          </a:prstGeom>
          <a:solidFill>
            <a:srgbClr val="F4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" y="3822191"/>
            <a:ext cx="479145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6F4BEF"/>
                </a:solidFill>
                <a:latin typeface="Aptos"/>
              </a:defRPr>
            </a:pPr>
            <a:r>
              <a:t>Column total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4251960"/>
            <a:ext cx="4791456" cy="7772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E273A"/>
                </a:solidFill>
                <a:latin typeface="Aptos"/>
              </a:defRPr>
            </a:pPr>
            <a:r>
              <a:t>55 = All students reporting Good sleep.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657600"/>
            <a:ext cx="5212080" cy="1508760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28232" y="3822191"/>
            <a:ext cx="479145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345BD2"/>
                </a:solidFill>
                <a:latin typeface="Aptos"/>
              </a:defRPr>
            </a:pPr>
            <a:r>
              <a:t>Grand total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4251960"/>
            <a:ext cx="4791456" cy="7772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E273A"/>
                </a:solidFill>
                <a:latin typeface="Aptos"/>
              </a:defRPr>
            </a:pPr>
            <a:r>
              <a:t>100 = All students in this example.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LESSON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Joint relative frequency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Denominator: ALL 100 students.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20240"/>
            <a:ext cx="10241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900" b="1">
                <a:solidFill>
                  <a:srgbClr val="345BD2"/>
                </a:solidFill>
                <a:latin typeface="Aptos"/>
              </a:defRPr>
            </a:pPr>
            <a:r>
              <a:rPr dirty="0"/>
              <a:t>P(Low AND Good) = 25 / 100 = 0.25 = 25%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4519" y="3383280"/>
            <a:ext cx="8412480" cy="1417320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84831" y="3547872"/>
            <a:ext cx="7991855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345BD2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4831" y="3977640"/>
            <a:ext cx="7991855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E273A"/>
                </a:solidFill>
                <a:latin typeface="Aptos"/>
              </a:defRPr>
            </a:pPr>
            <a:r>
              <a:t>25% of ALL students have low screen time AND good sleep.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5596128"/>
            <a:ext cx="10241280" cy="502920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5687568"/>
            <a:ext cx="9784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JOINT = one interior cell ÷ grand total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LESSON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Marginal relative frequency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Denominator: ALL 100 students; numerator: a row or column total.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20240"/>
            <a:ext cx="10241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900" b="1">
                <a:solidFill>
                  <a:srgbClr val="26A977"/>
                </a:solidFill>
                <a:latin typeface="Aptos"/>
              </a:defRPr>
            </a:pPr>
            <a:r>
              <a:t>P(Good sleep) = 55 / 100 = 55%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4519" y="3383280"/>
            <a:ext cx="8412480" cy="1417320"/>
          </a:xfrm>
          <a:prstGeom prst="round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84831" y="3547872"/>
            <a:ext cx="7991855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26A977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4831" y="3977640"/>
            <a:ext cx="7991855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E273A"/>
                </a:solidFill>
                <a:latin typeface="Aptos"/>
              </a:defRPr>
            </a:pPr>
            <a:r>
              <a:t>55% of ALL students report good sleep, regardless of screen-time category.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5596128"/>
            <a:ext cx="10241280" cy="502920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5687568"/>
            <a:ext cx="9784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MARGINAL = row total or column total ÷ grand total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LESSON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Conditional relative frequency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The denominator changes to the group named AFTER 'among' or 'given'.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874519"/>
            <a:ext cx="9875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92B58"/>
                </a:solidFill>
                <a:latin typeface="Aptos"/>
              </a:defRPr>
            </a:pPr>
            <a:r>
              <a:t>Among HIGH screen-time students: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06040"/>
            <a:ext cx="9875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EF4B5C"/>
                </a:solidFill>
                <a:latin typeface="Aptos"/>
              </a:defRPr>
            </a:pPr>
            <a:r>
              <a:t>P(Poor | High) = 25 / 35 ≈ 71.4%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03320"/>
            <a:ext cx="9875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92B58"/>
                </a:solidFill>
                <a:latin typeface="Aptos"/>
              </a:defRPr>
            </a:pPr>
            <a:r>
              <a:t>Among LOW screen-time students: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34840"/>
            <a:ext cx="9875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26A977"/>
                </a:solidFill>
                <a:latin typeface="Aptos"/>
              </a:defRPr>
            </a:pPr>
            <a:r>
              <a:t>P(Poor | Low) = 5 / 30 ≈ 16.7%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5596128"/>
            <a:ext cx="10241280" cy="502920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5687568"/>
            <a:ext cx="9784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CONDITIONAL = matching cell ÷ total in the GIVEN group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LESSON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Conditional distributions by screen-time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Each row adds to 100% (apart from rounding).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1920240"/>
            <a:ext cx="3063240" cy="672084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88136" y="1984248"/>
            <a:ext cx="2926079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Screen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1920240"/>
            <a:ext cx="2331720" cy="672084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97096" y="1984248"/>
            <a:ext cx="21945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Good sleep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920240"/>
            <a:ext cx="2331720" cy="672084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74536" y="1984248"/>
            <a:ext cx="21945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Poor sleep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1920240"/>
            <a:ext cx="2331720" cy="672084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51976" y="1984248"/>
            <a:ext cx="21945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Total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2633472"/>
            <a:ext cx="3063240" cy="672084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88136" y="2697479"/>
            <a:ext cx="2926079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E273A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2633472"/>
            <a:ext cx="2331720" cy="672084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97096" y="2697479"/>
            <a:ext cx="21945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E273A"/>
                </a:solidFill>
                <a:latin typeface="Aptos"/>
              </a:defRPr>
            </a:pPr>
            <a:r>
              <a:t>83.3%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2633472"/>
            <a:ext cx="2331720" cy="672084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74536" y="2697479"/>
            <a:ext cx="21945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E273A"/>
                </a:solidFill>
                <a:latin typeface="Aptos"/>
              </a:defRPr>
            </a:pPr>
            <a:r>
              <a:t>16.7%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2633472"/>
            <a:ext cx="2331720" cy="672084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51976" y="2697479"/>
            <a:ext cx="21945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E273A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" y="3346704"/>
            <a:ext cx="3063240" cy="6720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88136" y="3410712"/>
            <a:ext cx="2926079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E273A"/>
                </a:solidFill>
                <a:latin typeface="Aptos"/>
              </a:defRPr>
            </a:pPr>
            <a:r>
              <a:t>Moderate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0" y="3346704"/>
            <a:ext cx="2331720" cy="6720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97096" y="3410712"/>
            <a:ext cx="21945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E273A"/>
                </a:solidFill>
                <a:latin typeface="Aptos"/>
              </a:defRPr>
            </a:pPr>
            <a:r>
              <a:t>57.1%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3346704"/>
            <a:ext cx="2331720" cy="6720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74536" y="3410712"/>
            <a:ext cx="21945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E273A"/>
                </a:solidFill>
                <a:latin typeface="Aptos"/>
              </a:defRPr>
            </a:pPr>
            <a:r>
              <a:t>42.9%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69680" y="3346704"/>
            <a:ext cx="2331720" cy="6720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51976" y="3410712"/>
            <a:ext cx="21945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E273A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5840" y="4059935"/>
            <a:ext cx="3063240" cy="672084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88136" y="4123944"/>
            <a:ext cx="2926079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E273A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0" y="4059935"/>
            <a:ext cx="2331720" cy="672084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97096" y="4123944"/>
            <a:ext cx="21945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E273A"/>
                </a:solidFill>
                <a:latin typeface="Aptos"/>
              </a:defRPr>
            </a:pPr>
            <a:r>
              <a:t>28.6%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92240" y="4059935"/>
            <a:ext cx="2331720" cy="672084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74536" y="4123944"/>
            <a:ext cx="21945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E273A"/>
                </a:solidFill>
                <a:latin typeface="Aptos"/>
              </a:defRPr>
            </a:pPr>
            <a:r>
              <a:t>71.4%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69680" y="4059935"/>
            <a:ext cx="2331720" cy="672084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951976" y="4123944"/>
            <a:ext cx="21945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E273A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0120" y="5596128"/>
            <a:ext cx="10241280" cy="502920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88720" y="5687568"/>
            <a:ext cx="9784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Compare percentages within the SAME response category across groups.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LESSON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Which denominator?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Choose the group before you calculate.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783080"/>
            <a:ext cx="9966960" cy="987552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07592" y="1947672"/>
            <a:ext cx="954633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345BD2"/>
                </a:solidFill>
                <a:latin typeface="Aptos"/>
              </a:defRPr>
            </a:pPr>
            <a:r>
              <a:t>JOINT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2377440"/>
            <a:ext cx="954633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E273A"/>
                </a:solidFill>
                <a:latin typeface="Aptos"/>
              </a:defRPr>
            </a:pPr>
            <a:r>
              <a:t>Low AND Good → 25 / 100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026664"/>
            <a:ext cx="9966960" cy="987552"/>
          </a:xfrm>
          <a:prstGeom prst="round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07592" y="3191256"/>
            <a:ext cx="954633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26A977"/>
                </a:solidFill>
                <a:latin typeface="Aptos"/>
              </a:defRPr>
            </a:pPr>
            <a:r>
              <a:t>MARGINAL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3621024"/>
            <a:ext cx="954633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E273A"/>
                </a:solidFill>
                <a:latin typeface="Aptos"/>
              </a:defRPr>
            </a:pPr>
            <a:r>
              <a:t>Good overall → 55 / 100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270248"/>
            <a:ext cx="9966960" cy="987552"/>
          </a:xfrm>
          <a:prstGeom prst="roundRect">
            <a:avLst/>
          </a:prstGeom>
          <a:solidFill>
            <a:srgbClr val="F4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07592" y="4434840"/>
            <a:ext cx="954633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6F4BEF"/>
                </a:solidFill>
                <a:latin typeface="Aptos"/>
              </a:defRPr>
            </a:pPr>
            <a:r>
              <a:t>CONDITIONAL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7592" y="4864608"/>
            <a:ext cx="954633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E273A"/>
                </a:solidFill>
                <a:latin typeface="Aptos"/>
              </a:defRPr>
            </a:pPr>
            <a:r>
              <a:t>Poor GIVEN High → 25 / 35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LESSON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Graph 1 — Side-by-side bar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Compare categories within each screen-time group.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1645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92B58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1920240"/>
            <a:ext cx="4800600" cy="292608"/>
          </a:xfrm>
          <a:prstGeom prst="roundRect">
            <a:avLst/>
          </a:prstGeom>
          <a:solidFill>
            <a:srgbClr val="26A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560320" y="2286000"/>
            <a:ext cx="960120" cy="292608"/>
          </a:xfrm>
          <a:prstGeom prst="roundRect">
            <a:avLst/>
          </a:prstGeom>
          <a:solidFill>
            <a:srgbClr val="EF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0" y="201168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E273A"/>
                </a:solidFill>
                <a:latin typeface="Aptos"/>
              </a:defRPr>
            </a:pPr>
            <a:r>
              <a:t>Good: 25   Poor: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17520"/>
            <a:ext cx="1645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92B58"/>
                </a:solidFill>
                <a:latin typeface="Aptos"/>
              </a:defRPr>
            </a:pPr>
            <a:r>
              <a:t>Moderate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3017520"/>
            <a:ext cx="3840480" cy="292608"/>
          </a:xfrm>
          <a:prstGeom prst="roundRect">
            <a:avLst/>
          </a:prstGeom>
          <a:solidFill>
            <a:srgbClr val="26A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560320" y="3383279"/>
            <a:ext cx="2880360" cy="292608"/>
          </a:xfrm>
          <a:prstGeom prst="roundRect">
            <a:avLst/>
          </a:prstGeom>
          <a:solidFill>
            <a:srgbClr val="EF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0" y="310896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E273A"/>
                </a:solidFill>
                <a:latin typeface="Aptos"/>
              </a:defRPr>
            </a:pPr>
            <a:r>
              <a:t>Good: 20   Poor: 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14800"/>
            <a:ext cx="1645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92B58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60320" y="4114800"/>
            <a:ext cx="1920240" cy="292608"/>
          </a:xfrm>
          <a:prstGeom prst="roundRect">
            <a:avLst/>
          </a:prstGeom>
          <a:solidFill>
            <a:srgbClr val="26A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560320" y="4480560"/>
            <a:ext cx="4800600" cy="292608"/>
          </a:xfrm>
          <a:prstGeom prst="roundRect">
            <a:avLst/>
          </a:prstGeom>
          <a:solidFill>
            <a:srgbClr val="EF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0" y="420624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E273A"/>
                </a:solidFill>
                <a:latin typeface="Aptos"/>
              </a:defRPr>
            </a:pPr>
            <a:r>
              <a:t>Good: 10   Poor: 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62356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69758B"/>
                </a:solidFill>
                <a:latin typeface="Aptos"/>
              </a:defRPr>
            </a:pPr>
            <a:r>
              <a:t>Green = Good sleep    •    Red = Poor sleep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LESSON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Graph 2 — Segmented bar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Each bar is 100%: compare conditional distributions.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92B58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0280" y="1965960"/>
            <a:ext cx="3810000" cy="320040"/>
          </a:xfrm>
          <a:prstGeom prst="roundRect">
            <a:avLst/>
          </a:prstGeom>
          <a:solidFill>
            <a:srgbClr val="26A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050280" y="1965960"/>
            <a:ext cx="761999" cy="320040"/>
          </a:xfrm>
          <a:prstGeom prst="roundRect">
            <a:avLst/>
          </a:prstGeom>
          <a:solidFill>
            <a:srgbClr val="EF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3760" y="196596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E273A"/>
                </a:solidFill>
                <a:latin typeface="Aptos"/>
              </a:defRPr>
            </a:pPr>
            <a:r>
              <a:t>83.3% good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43784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92B58"/>
                </a:solidFill>
                <a:latin typeface="Aptos"/>
              </a:defRPr>
            </a:pPr>
            <a:r>
              <a:t>Moderate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40280" y="2843784"/>
            <a:ext cx="2612571" cy="320040"/>
          </a:xfrm>
          <a:prstGeom prst="roundRect">
            <a:avLst/>
          </a:prstGeom>
          <a:solidFill>
            <a:srgbClr val="26A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852851" y="2843784"/>
            <a:ext cx="1959428" cy="320040"/>
          </a:xfrm>
          <a:prstGeom prst="roundRect">
            <a:avLst/>
          </a:prstGeom>
          <a:solidFill>
            <a:srgbClr val="EF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23760" y="2843784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E273A"/>
                </a:solidFill>
                <a:latin typeface="Aptos"/>
              </a:defRPr>
            </a:pPr>
            <a:r>
              <a:t>57.1% good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21608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92B58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40280" y="3721608"/>
            <a:ext cx="1306285" cy="320040"/>
          </a:xfrm>
          <a:prstGeom prst="roundRect">
            <a:avLst/>
          </a:prstGeom>
          <a:solidFill>
            <a:srgbClr val="26A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546565" y="3721608"/>
            <a:ext cx="3265714" cy="320040"/>
          </a:xfrm>
          <a:prstGeom prst="roundRect">
            <a:avLst/>
          </a:prstGeom>
          <a:solidFill>
            <a:srgbClr val="EF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0" y="3721608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E273A"/>
                </a:solidFill>
                <a:latin typeface="Aptos"/>
              </a:defRPr>
            </a:pPr>
            <a:r>
              <a:t>28.6% good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303520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69758B"/>
                </a:solidFill>
                <a:latin typeface="Aptos"/>
              </a:defRPr>
            </a:pPr>
            <a:r>
              <a:t>Green = Good sleep    •    Red = Poor sleep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5596128"/>
            <a:ext cx="10241280" cy="502920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88720" y="5687568"/>
            <a:ext cx="9784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The size of each group no longer changes the total bar length.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LESSON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Graph 3 — Mosaic plot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Width shows group size; height shows the conditional distribution.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828800"/>
            <a:ext cx="2404872" cy="2667000"/>
          </a:xfrm>
          <a:prstGeom prst="roundRect">
            <a:avLst/>
          </a:prstGeom>
          <a:solidFill>
            <a:srgbClr val="26A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463040" y="4495800"/>
            <a:ext cx="2404872" cy="533399"/>
          </a:xfrm>
          <a:prstGeom prst="roundRect">
            <a:avLst/>
          </a:prstGeom>
          <a:solidFill>
            <a:srgbClr val="EF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63040" y="5212080"/>
            <a:ext cx="24048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92B58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1828800"/>
            <a:ext cx="2816352" cy="1828800"/>
          </a:xfrm>
          <a:prstGeom prst="roundRect">
            <a:avLst/>
          </a:prstGeom>
          <a:solidFill>
            <a:srgbClr val="26A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931920" y="3657600"/>
            <a:ext cx="2816352" cy="1371600"/>
          </a:xfrm>
          <a:prstGeom prst="roundRect">
            <a:avLst/>
          </a:prstGeom>
          <a:solidFill>
            <a:srgbClr val="EF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31920" y="5212080"/>
            <a:ext cx="281635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92B58"/>
                </a:solidFill>
                <a:latin typeface="Aptos"/>
              </a:defRPr>
            </a:pPr>
            <a:r>
              <a:t>Moderate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1828800"/>
            <a:ext cx="2816352" cy="914400"/>
          </a:xfrm>
          <a:prstGeom prst="roundRect">
            <a:avLst/>
          </a:prstGeom>
          <a:solidFill>
            <a:srgbClr val="26A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812280" y="2743200"/>
            <a:ext cx="2816352" cy="2286000"/>
          </a:xfrm>
          <a:prstGeom prst="roundRect">
            <a:avLst/>
          </a:prstGeom>
          <a:solidFill>
            <a:srgbClr val="EF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5212080"/>
            <a:ext cx="281635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92B58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760720"/>
            <a:ext cx="9875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69758B"/>
                </a:solidFill>
                <a:latin typeface="Aptos"/>
              </a:defRPr>
            </a:pPr>
            <a:r>
              <a:t>Area represents JOINT relative frequency; width represents MARGINAL relative frequency.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LESSON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Association or no association?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Compare the CONDITIONAL distribution of sleep quality across screen-time groups.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5212080" cy="1554480"/>
          </a:xfrm>
          <a:prstGeom prst="round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1993392"/>
            <a:ext cx="479145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26A977"/>
                </a:solidFill>
                <a:latin typeface="Aptos"/>
              </a:defRPr>
            </a:pPr>
            <a:r>
              <a:t>Low screen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423160"/>
            <a:ext cx="4791456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E273A"/>
                </a:solidFill>
                <a:latin typeface="Aptos"/>
              </a:defRPr>
            </a:pPr>
            <a:r>
              <a:t>16.7% report poor sleep.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5212080" cy="1554480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1993392"/>
            <a:ext cx="479145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345BD2"/>
                </a:solidFill>
                <a:latin typeface="Aptos"/>
              </a:defRPr>
            </a:pPr>
            <a:r>
              <a:t>High screen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423160"/>
            <a:ext cx="4791456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E273A"/>
                </a:solidFill>
                <a:latin typeface="Aptos"/>
              </a:defRPr>
            </a:pPr>
            <a:r>
              <a:t>71.4% report poor sleep.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749039"/>
            <a:ext cx="10058400" cy="1508760"/>
          </a:xfrm>
          <a:prstGeom prst="roundRect">
            <a:avLst/>
          </a:prstGeom>
          <a:solidFill>
            <a:srgbClr val="F4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61872" y="3913631"/>
            <a:ext cx="9637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6F4BEF"/>
                </a:solidFill>
                <a:latin typeface="Aptos"/>
              </a:defRPr>
            </a:pPr>
            <a:r>
              <a:t>Statistical conclusion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343400"/>
            <a:ext cx="9637776" cy="7772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E273A"/>
                </a:solidFill>
                <a:latin typeface="Aptos"/>
              </a:defRPr>
            </a:pPr>
            <a:r>
              <a:t>The conditional distributions differ, indicating an association in these illustrative data. This does NOT establish causation.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LESSON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Practice — interpret a new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Extracurricular participation and school transportation (illustrative data).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28800"/>
            <a:ext cx="2788920" cy="617219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1892807"/>
            <a:ext cx="265176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Participation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828800"/>
            <a:ext cx="1874520" cy="617219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94176" y="1892807"/>
            <a:ext cx="173736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Bus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32120" y="1828800"/>
            <a:ext cx="1874520" cy="617219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14416" y="1892807"/>
            <a:ext cx="173736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1828800"/>
            <a:ext cx="1874520" cy="617219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34656" y="1892807"/>
            <a:ext cx="173736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Walk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1828800"/>
            <a:ext cx="1874520" cy="617219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54896" y="1892807"/>
            <a:ext cx="173736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Total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2487168"/>
            <a:ext cx="2788920" cy="617219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9536" y="2551175"/>
            <a:ext cx="265176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E273A"/>
                </a:solidFill>
                <a:latin typeface="Aptos"/>
              </a:defRPr>
            </a:pPr>
            <a:r>
              <a:t>Yes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11880" y="2487168"/>
            <a:ext cx="1874520" cy="617219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94176" y="2551175"/>
            <a:ext cx="173736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E273A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32120" y="2487168"/>
            <a:ext cx="1874520" cy="617219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14416" y="2551175"/>
            <a:ext cx="173736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E273A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2487168"/>
            <a:ext cx="1874520" cy="617219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34656" y="2551175"/>
            <a:ext cx="173736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E273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72600" y="2487168"/>
            <a:ext cx="1874520" cy="617219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54896" y="2551175"/>
            <a:ext cx="173736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E273A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3145536"/>
            <a:ext cx="2788920" cy="6172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9536" y="3209544"/>
            <a:ext cx="265176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E273A"/>
                </a:solidFill>
                <a:latin typeface="Aptos"/>
              </a:defRPr>
            </a:pPr>
            <a:r>
              <a:t>No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11880" y="3145536"/>
            <a:ext cx="1874520" cy="6172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94176" y="3209544"/>
            <a:ext cx="173736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E273A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32120" y="3145536"/>
            <a:ext cx="1874520" cy="6172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14416" y="3209544"/>
            <a:ext cx="173736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E273A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52360" y="3145536"/>
            <a:ext cx="1874520" cy="6172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34656" y="3209544"/>
            <a:ext cx="173736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E273A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72600" y="3145536"/>
            <a:ext cx="1874520" cy="6172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454896" y="3209544"/>
            <a:ext cx="173736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E273A"/>
                </a:solidFill>
                <a:latin typeface="Aptos"/>
              </a:defRPr>
            </a:pPr>
            <a:r>
              <a:t>60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3803904"/>
            <a:ext cx="2788920" cy="617219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9536" y="3867912"/>
            <a:ext cx="265176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1E273A"/>
                </a:solidFill>
                <a:latin typeface="Aptos"/>
              </a:defRPr>
            </a:pPr>
            <a:r>
              <a:t>Total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11880" y="3803904"/>
            <a:ext cx="1874520" cy="617219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94176" y="3867912"/>
            <a:ext cx="173736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E273A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32120" y="3803904"/>
            <a:ext cx="1874520" cy="617219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614416" y="3867912"/>
            <a:ext cx="173736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E273A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52360" y="3803904"/>
            <a:ext cx="1874520" cy="617219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534656" y="3867912"/>
            <a:ext cx="173736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E273A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72600" y="3803904"/>
            <a:ext cx="1874520" cy="617219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454896" y="3867912"/>
            <a:ext cx="173736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E273A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" y="516636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92B58"/>
                </a:solidFill>
                <a:latin typeface="Aptos"/>
              </a:defRPr>
            </a:pPr>
            <a:r>
              <a:t>Calculate: joint P(Yes AND Bus); marginal P(Car); conditional P(Bus | Yes); compare P(Car | Yes) and P(Car | No).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LESSON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Practice — worked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Always interpret a probability in context.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28800"/>
            <a:ext cx="5166360" cy="1965960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1993392"/>
            <a:ext cx="474573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345BD2"/>
                </a:solidFill>
                <a:latin typeface="Aptos"/>
              </a:defRPr>
            </a:pPr>
            <a:r>
              <a:t>Joint and marginal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23160"/>
            <a:ext cx="4745736" cy="1234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E273A"/>
                </a:solidFill>
                <a:latin typeface="Aptos"/>
              </a:defRPr>
            </a:pPr>
            <a:r>
              <a:t>P(Yes AND Bus) = 18/100 = 18%</a:t>
            </a:r>
            <a:br/>
            <a:r>
              <a:t>P(Car) = 40/100 = 40%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28800"/>
            <a:ext cx="5166360" cy="1965960"/>
          </a:xfrm>
          <a:prstGeom prst="round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1993392"/>
            <a:ext cx="474573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26A977"/>
                </a:solidFill>
                <a:latin typeface="Aptos"/>
              </a:defRPr>
            </a:pPr>
            <a:r>
              <a:t>Conditional and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423160"/>
            <a:ext cx="4745736" cy="1234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E273A"/>
                </a:solidFill>
                <a:latin typeface="Aptos"/>
              </a:defRPr>
            </a:pPr>
            <a:r>
              <a:t>P(Bus | Yes) = 18/40 = 45%</a:t>
            </a:r>
            <a:br/>
            <a:r>
              <a:t>P(Car | Yes) = 12/40 = 30%</a:t>
            </a:r>
            <a:br/>
            <a:r>
              <a:t>P(Car | No) = 28/60 ≈ 46.7%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5596128"/>
            <a:ext cx="10241280" cy="502920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5687568"/>
            <a:ext cx="9784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Car use differs by participation group in these illustrative data.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LESSON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Exit ticket — AP-style reasoning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Use the first screen-time and sleep-quality 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737360"/>
            <a:ext cx="1028700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1856231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92B58"/>
                </a:solidFill>
                <a:latin typeface="Aptos"/>
              </a:defRPr>
            </a:pPr>
            <a:r>
              <a:t>1. Explain the meaning of the 25 in the High/Poor cell.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670048"/>
            <a:ext cx="1028700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2788920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92B58"/>
                </a:solidFill>
                <a:latin typeface="Aptos"/>
              </a:defRPr>
            </a:pPr>
            <a:r>
              <a:t>2. Find P(High AND Poor) and P(Poor | High).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02736"/>
            <a:ext cx="1028700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3721608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92B58"/>
                </a:solidFill>
                <a:latin typeface="Aptos"/>
              </a:defRPr>
            </a:pPr>
            <a:r>
              <a:t>3. Compare poor-sleep percentages for Low and High screen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535424"/>
            <a:ext cx="1028700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4654296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92B58"/>
                </a:solidFill>
                <a:latin typeface="Aptos"/>
              </a:defRPr>
            </a:pPr>
            <a:r>
              <a:t>4. Write an evidence-based conclusion. Can you infer causation?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LESSON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Lesson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From a two-way table to a supported statistical conclusion.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664208"/>
            <a:ext cx="10607040" cy="832104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1828800"/>
            <a:ext cx="10186415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345BD2"/>
                </a:solidFill>
                <a:latin typeface="Aptos"/>
              </a:defRPr>
            </a:pPr>
            <a:r>
              <a:t>ORGANIZE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258568"/>
            <a:ext cx="10186415" cy="10058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E273A"/>
                </a:solidFill>
                <a:latin typeface="Aptos"/>
              </a:defRPr>
            </a:pPr>
            <a:r>
              <a:t>Two categorical variables → two-way 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697480"/>
            <a:ext cx="10607040" cy="832104"/>
          </a:xfrm>
          <a:prstGeom prst="round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7552" y="2862072"/>
            <a:ext cx="10186415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26A977"/>
                </a:solidFill>
                <a:latin typeface="Aptos"/>
              </a:defRPr>
            </a:pPr>
            <a:r>
              <a:t>CALCULATE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291840"/>
            <a:ext cx="10186415" cy="10058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E273A"/>
                </a:solidFill>
                <a:latin typeface="Aptos"/>
              </a:defRPr>
            </a:pPr>
            <a:r>
              <a:t>Joint, marginal, conditional relative frequencies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30752"/>
            <a:ext cx="10607040" cy="832104"/>
          </a:xfrm>
          <a:prstGeom prst="roundRect">
            <a:avLst/>
          </a:prstGeom>
          <a:solidFill>
            <a:srgbClr val="F4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3895344"/>
            <a:ext cx="10186415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6F4BEF"/>
                </a:solidFill>
                <a:latin typeface="Aptos"/>
              </a:defRPr>
            </a:pPr>
            <a:r>
              <a:t>VISUALIZE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325112"/>
            <a:ext cx="10186415" cy="10058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E273A"/>
                </a:solidFill>
                <a:latin typeface="Aptos"/>
              </a:defRPr>
            </a:pPr>
            <a:r>
              <a:t>Side-by-side, segmented, and mosaic plots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764024"/>
            <a:ext cx="10607040" cy="832104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" y="4928616"/>
            <a:ext cx="10186415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345BD2"/>
                </a:solidFill>
                <a:latin typeface="Aptos"/>
              </a:defRPr>
            </a:pPr>
            <a:r>
              <a:t>INTERPRET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5358384"/>
            <a:ext cx="10186415" cy="10058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E273A"/>
                </a:solidFill>
                <a:latin typeface="Aptos"/>
              </a:defRPr>
            </a:pPr>
            <a:r>
              <a:t>Compare conditional distributions; association ≠ causation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872</TotalTime>
  <Words>1251</Words>
  <Application>Microsoft Office PowerPoint</Application>
  <PresentationFormat>Widescreen</PresentationFormat>
  <Paragraphs>261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ANAS Bellaquali</cp:lastModifiedBy>
  <cp:revision>2</cp:revision>
  <dcterms:created xsi:type="dcterms:W3CDTF">2013-01-27T09:14:16Z</dcterms:created>
  <dcterms:modified xsi:type="dcterms:W3CDTF">2026-09-20T04:05:59Z</dcterms:modified>
  <cp:category/>
</cp:coreProperties>
</file>