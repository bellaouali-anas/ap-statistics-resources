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2" r:id="rId17"/>
    <p:sldId id="283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56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700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329CF-B868-4EC1-8BE7-472EAFA4D193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EFCC8-4488-4342-8214-8C3B9E67D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9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20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321040" y="137160"/>
            <a:ext cx="3657600" cy="3657600"/>
          </a:xfrm>
          <a:prstGeom prst="ellipse">
            <a:avLst/>
          </a:prstGeom>
          <a:solidFill>
            <a:srgbClr val="3157D5">
              <a:alpha val="80000"/>
            </a:srgbClr>
          </a:solidFill>
          <a:ln w="12700">
            <a:solidFill>
              <a:srgbClr val="3157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251960"/>
            <a:ext cx="2743200" cy="2423160"/>
          </a:xfrm>
          <a:prstGeom prst="ellipse">
            <a:avLst/>
          </a:prstGeom>
          <a:solidFill>
            <a:srgbClr val="22A6B3">
              <a:alpha val="70000"/>
            </a:srgbClr>
          </a:solidFill>
          <a:ln w="12700">
            <a:solidFill>
              <a:srgbClr val="22A6B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65836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72694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FFFF"/>
                </a:solidFill>
              </a:rPr>
              <a:t>AP STATISTICS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rPr lang="en-US" sz="4400" dirty="0"/>
              <a:t>Probability</a:t>
            </a:r>
            <a:br>
              <a:rPr lang="en-US" sz="4400" dirty="0"/>
            </a:br>
            <a:r>
              <a:rPr lang="en-US" sz="4400" dirty="0"/>
              <a:t>&amp; Simulation</a:t>
            </a:r>
          </a:p>
        </p:txBody>
      </p:sp>
      <p:sp>
        <p:nvSpPr>
          <p:cNvPr id="8" name="Text 6"/>
          <p:cNvSpPr/>
          <p:nvPr/>
        </p:nvSpPr>
        <p:spPr>
          <a:xfrm>
            <a:off x="713232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C7FF"/>
                </a:solidFill>
              </a:rPr>
              <a:t>Lesson 2  •  Unit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749040"/>
            <a:ext cx="66294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If individual outcomes are unpredictable, how can probability predict long-run behavior?</a:t>
            </a:r>
          </a:p>
          <a:p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6144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9FB0E9"/>
                </a:solidFill>
              </a:rPr>
              <a:t>ANAS BELLAOUALI  •  AP STATISTICS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5820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86968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8116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92640" y="1234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0412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515600" y="12344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5820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86968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281160" y="1645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9264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0412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515600" y="164592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5820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6968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8116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92640" y="20574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10412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515600" y="205740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5820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28116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69264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04120" y="24688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515600" y="246888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45820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6968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928116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692640" y="28803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10412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0515600" y="288036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45820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869680" y="32918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28116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69264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10412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0515600" y="3291840"/>
            <a:ext cx="164592" cy="164592"/>
          </a:xfrm>
          <a:prstGeom prst="ellipse">
            <a:avLst/>
          </a:prstGeom>
          <a:solidFill>
            <a:srgbClr val="8FA3E8"/>
          </a:solidFill>
          <a:ln w="12700">
            <a:solidFill>
              <a:srgbClr val="8FA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Lesson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Experience randomness first; formalize probability second.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01  Randomness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0428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Random processes, outcomes, sample spaces &amp;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783080"/>
            <a:ext cx="516636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7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02 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30428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Theoretical and experimental probability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5166360" cy="14173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6027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03 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99592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Model random processes and estimate probabilities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474720"/>
            <a:ext cx="5166360" cy="141732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7" y="36027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04  Long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399592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Law of Large Numbers &amp; complement rule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Start with a random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Roll a fair six-sided die once.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5166360" cy="18288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95681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Can you predict the next roll?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No. The individual outcome is uncertain.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166360" cy="18288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95681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Can you describe what could happen?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50008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Yes. The possible outcomes are known.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16052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92B58"/>
                </a:solidFill>
                <a:latin typeface="Aptos"/>
              </a:defRPr>
            </a:pPr>
            <a:r>
              <a:t>1   2   3   4   5   6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Probability studies patterns in random processes, not certainty about the next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Vocabulary of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Use precise language before using formulas.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516636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86537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Random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25856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A process whose individual result is uncertain.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737360"/>
            <a:ext cx="516636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7" y="186537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25856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One possible result of the process.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5166360" cy="14173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6027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Sample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99592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The set of ALL possible outcomes.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474720"/>
            <a:ext cx="5166360" cy="141732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7" y="36027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399592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A collection of outcomes from the sample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Sample spaces and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Example: roll one fair six-sided die.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345BD2"/>
                </a:solidFill>
                <a:latin typeface="Aptos"/>
              </a:defRPr>
            </a:pPr>
            <a:r>
              <a:t>S = {1, 2, 3, 4, 5, 6}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926080"/>
            <a:ext cx="475488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3054096"/>
            <a:ext cx="43525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Event A: roll an even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447288"/>
            <a:ext cx="435254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A = {2, 4, 6}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926080"/>
            <a:ext cx="475488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3054096"/>
            <a:ext cx="43525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Event B: roll greater than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447288"/>
            <a:ext cx="435254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B = {5, 6}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An event can contain one outcome, several outcomes, or the entire sample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CLASSWORK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1 — identify the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Classwork — discuss first, then calculate.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10652760" cy="10515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B58"/>
                </a:solidFill>
                <a:latin typeface="Aptos"/>
              </a:defRPr>
            </a:pPr>
            <a:r>
              <a:t>A spinner has four equal sections labeled A, B, C, D. It is spun once.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63240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a) Write the sample space 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21608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81304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b) Let E = “landing on A or C.” Write E as a set of outcomes.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79976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471416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c) How many outcomes are in E? How many are in 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1 —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Spinner: A, B, C, D are equally likely.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28800"/>
            <a:ext cx="512064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956816"/>
            <a:ext cx="47183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Sample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50008"/>
            <a:ext cx="471830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S = {A, B, C, D}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12064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56816"/>
            <a:ext cx="47183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71830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E = {A, C}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9966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92B58"/>
                </a:solidFill>
                <a:latin typeface="Aptos"/>
              </a:defRPr>
            </a:pPr>
            <a:r>
              <a:t>2 favorable outcomes out of 4 possible outcomes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This sets us up for theoretical probability.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Theoretical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When all outcomes are equally likely.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77240" y="1766591"/>
                <a:ext cx="10652760" cy="90165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400" b="1">
                    <a:solidFill>
                      <a:srgbClr val="345BD2"/>
                    </a:solidFill>
                    <a:latin typeface="Aptos"/>
                  </a:defRPr>
                </a:pPr>
                <a:r>
                  <a:rPr dirty="0"/>
                  <a:t>P(A)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𝐧𝐮𝐦𝐛𝐞𝐫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𝐨𝐮𝐭𝐜𝐨𝐦𝐞𝐬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𝐢𝐧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𝐀</m:t>
                        </m:r>
                      </m:num>
                      <m:den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𝐭𝐨𝐭𝐚𝐥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𝐧𝐮𝐦𝐛𝐞𝐫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𝐨𝐟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i="0" dirty="0">
                            <a:latin typeface="Cambria Math" panose="02040503050406030204" pitchFamily="18" charset="0"/>
                          </a:rPr>
                          <m:t>𝐨𝐮𝐭𝐜𝐨𝐦𝐞𝐬</m:t>
                        </m:r>
                      </m:den>
                    </m:f>
                  </m:oMath>
                </a14:m>
                <a:endParaRPr sz="3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1766591"/>
                <a:ext cx="10652760" cy="9016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822960" y="3063240"/>
            <a:ext cx="5212080" cy="1645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48097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Example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84448"/>
            <a:ext cx="480974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Roll a fair die.</a:t>
            </a:r>
            <a:br/>
            <a:r>
              <a:t>P(roll &gt; 4) = 2/6 = 1/3 ≈ 0.333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063240"/>
            <a:ext cx="5212080" cy="16459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3191256"/>
            <a:ext cx="48097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Example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584448"/>
            <a:ext cx="480974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Draw one card from cards 1–10.</a:t>
            </a:r>
            <a:br/>
            <a:r>
              <a:t>P(even) = 5/10 = 0.50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Count favorable outcomes only when the outcomes are equally likely.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Probability lives between 0 and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Probability can be written as a fraction, decimal, or percent.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9875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192B58"/>
                </a:solidFill>
                <a:latin typeface="Aptos"/>
              </a:defRPr>
            </a:pPr>
            <a:r>
              <a:t>0  ─────────────  0.5  ─────────────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F4B5C"/>
                </a:solidFill>
                <a:latin typeface="Aptos"/>
              </a:defRPr>
            </a:pPr>
            <a:r>
              <a:t>Impossible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6F4BEF"/>
                </a:solidFill>
                <a:latin typeface="Aptos"/>
              </a:defRPr>
            </a:pPr>
            <a:r>
              <a:t>Roughly equally likely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788920"/>
            <a:ext cx="1828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6A977"/>
                </a:solidFill>
                <a:latin typeface="Aptos"/>
              </a:defRPr>
            </a:pPr>
            <a:r>
              <a:t>Certain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3794760"/>
            <a:ext cx="8503920" cy="132588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29968" y="3922776"/>
            <a:ext cx="810158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4315968"/>
            <a:ext cx="810158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P(rain tomorrow) = 0.20 means a 20% probability — not that it will rain for 20% of the 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CLASSWORK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2 — calculate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Classwork — discuss first, then calculate.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10652760" cy="10515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B58"/>
                </a:solidFill>
                <a:latin typeface="Aptos"/>
              </a:defRPr>
            </a:pPr>
            <a:r>
              <a:t>A bag contains 5 blue, 3 red, and 2 green counters. One counter is selected at random.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63240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a) P(blue) =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21608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81304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b) P(green) =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79976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471416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c) P(red or green) =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038344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129784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d) Which event is most likely? Explain numerically.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2 —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There are 10 counters in total.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3429000" cy="13716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956816"/>
            <a:ext cx="30266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Blue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50008"/>
            <a:ext cx="30266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P(blue) = 5/10 = 0.50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13716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956816"/>
            <a:ext cx="30266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50008"/>
            <a:ext cx="30266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P(green) = 2/10 = 0.20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29000" cy="137160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56816"/>
            <a:ext cx="30266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Red or 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50008"/>
            <a:ext cx="30266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P(red or green) = 5/10 = 0.50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most likely events here are Blue and Red-or-Green; each has probability 0.50.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Experimental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What happened in actual repetitions?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85800" y="1913876"/>
                <a:ext cx="10789920" cy="65280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2300" b="1">
                    <a:solidFill>
                      <a:srgbClr val="26A977"/>
                    </a:solidFill>
                    <a:latin typeface="Aptos"/>
                  </a:defRPr>
                </a:pPr>
                <a:r>
                  <a:rPr dirty="0"/>
                  <a:t>Experimental 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dirty="0"/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number of times the event occurred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number of trials</m:t>
                        </m:r>
                      </m:den>
                    </m:f>
                  </m:oMath>
                </a14:m>
                <a:endParaRPr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13876"/>
                <a:ext cx="10789920" cy="652807"/>
              </a:xfrm>
              <a:prstGeom prst="rect">
                <a:avLst/>
              </a:prstGeom>
              <a:blipFill>
                <a:blip r:embed="rId2"/>
                <a:stretch>
                  <a:fillRect b="-10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1005840" y="2971800"/>
            <a:ext cx="4892040" cy="18288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3099816"/>
            <a:ext cx="44897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93008"/>
            <a:ext cx="4489703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A player wins on a 5 or 6. In 20 rolls, the player wins 7 times.</a:t>
            </a:r>
            <a:br/>
            <a:br/>
            <a:r>
              <a:t>Experimental probability = 7/20 = 0.35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71800"/>
            <a:ext cx="4892040" cy="18288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3099816"/>
            <a:ext cx="4489703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Theoretical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3493008"/>
            <a:ext cx="4489703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rPr dirty="0"/>
              <a:t>P(win) = 2/6 = 1/3 ≈ 0.333</a:t>
            </a:r>
            <a:br>
              <a:rPr dirty="0"/>
            </a:br>
            <a:br>
              <a:rPr dirty="0"/>
            </a:br>
            <a:r>
              <a:rPr dirty="0"/>
              <a:t>0.35 and 0.333 do not have to match exactly.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The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A player wins when a fair die shows 5 or 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345BD2"/>
                </a:solidFill>
                <a:latin typeface="Aptos"/>
              </a:defRPr>
            </a:pPr>
            <a:r>
              <a:rPr dirty="0"/>
              <a:t>P(win) = 2/6 = 1/3 ≈ 0.333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17520"/>
            <a:ext cx="5166360" cy="146304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1455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38727"/>
            <a:ext cx="47640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If we play 10 times, must we win exactly 3 or 4 times?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166360" cy="146304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1455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538727"/>
            <a:ext cx="4764024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What happens after 10, 100, 1,000, and 10,000 simulated games?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Simulation lets us imitate a random process many times.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What is a simulation?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A simulation uses a random mechanism to imitate chance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691640"/>
            <a:ext cx="10515600" cy="804672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819656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1  Define the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12848"/>
            <a:ext cx="101132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What counts as success/failure?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697480"/>
            <a:ext cx="10515600" cy="80467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825496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2  Choose a random 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218688"/>
            <a:ext cx="101132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Die, cards, random digits, or technology.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10515600" cy="804672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6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3  Assign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224528"/>
            <a:ext cx="101132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Make the device match the stated probabilities.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09160"/>
            <a:ext cx="10515600" cy="804672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837176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4  Repeat &amp; record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230368"/>
            <a:ext cx="10113264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Run many trials and calculate the statistic.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Simulation example with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Winning on 5 or 6 from a fair die.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14173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Random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0428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Generate a random integer from 1 to 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66360" cy="14173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Outcome 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04288"/>
            <a:ext cx="476402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1–4 = Loss</a:t>
            </a:r>
            <a:br/>
            <a:r>
              <a:t>5–6 = Win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657600"/>
            <a:ext cx="9921240" cy="132588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44168" y="3785615"/>
            <a:ext cx="951890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One possible 10-trial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78808"/>
            <a:ext cx="951890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2, 6, 1, 5, 3, 4, 6, 2, 1, 5</a:t>
            </a:r>
            <a:br/>
            <a:r>
              <a:t>Wins = 4 → 4/10 = 0.40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 single simulation gives an estimate; repeating more trials usually gives a more stable estimate.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CLASSWORK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3 — Design a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53312"/>
            <a:ext cx="10652760" cy="74980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481328"/>
            <a:ext cx="10149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2B58"/>
                </a:solidFill>
                <a:latin typeface="Aptos"/>
              </a:defRPr>
            </a:pPr>
            <a:r>
              <a:t>A basketball player makes 70% of his shots. We want to simulate his performance for 10 shots.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95728"/>
            <a:ext cx="10469880" cy="53035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7552" y="2478024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247802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50592"/>
            <a:ext cx="9372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What are the two possible outcomes of each shot?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054096"/>
            <a:ext cx="10469880" cy="530352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" y="3136391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3136391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08960"/>
            <a:ext cx="9372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How could we represent these two outcomes using 0 and 1?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12463"/>
            <a:ext cx="10469880" cy="530352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7552" y="3794759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794759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67327"/>
            <a:ext cx="9372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How could we create a random mechanism that simulates a player who makes 70% of his shots?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370832"/>
            <a:ext cx="10469880" cy="530352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7552" y="4453128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7552" y="445312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25696"/>
            <a:ext cx="9372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Will we always get exactly 7 successful shots out of 10? Why or why not?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029200"/>
            <a:ext cx="10469880" cy="53035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7552" y="5111496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511149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84064"/>
            <a:ext cx="93726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What could we do to get a better idea of the player's long-run performance?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56432" y="5806440"/>
            <a:ext cx="5257800" cy="438912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9312" y="5870448"/>
            <a:ext cx="4892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Discuss your simulation design with your group.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3 — Discussion &amp;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166360" cy="107899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44752"/>
            <a:ext cx="4709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6A977"/>
                </a:solidFill>
                <a:latin typeface="Aptos"/>
              </a:defRPr>
            </a:pPr>
            <a:r>
              <a:t>1  Possible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92224"/>
            <a:ext cx="4709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2B58"/>
                </a:solidFill>
                <a:latin typeface="Aptos"/>
              </a:defRPr>
            </a:pPr>
            <a:r>
              <a:t>Make (success)  •  Miss (failure)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5166360" cy="1078992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444752"/>
            <a:ext cx="4709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6F4BEF"/>
                </a:solidFill>
                <a:latin typeface="Aptos"/>
              </a:defRPr>
            </a:pPr>
            <a:r>
              <a:t>2  Represent the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92224"/>
            <a:ext cx="4709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2B58"/>
                </a:solidFill>
                <a:latin typeface="Aptos"/>
              </a:defRPr>
            </a:pPr>
            <a:r>
              <a:t>1 = Success     0 =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51760"/>
            <a:ext cx="10625328" cy="1481328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770632"/>
            <a:ext cx="10149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69E0B"/>
                </a:solidFill>
                <a:latin typeface="Aptos"/>
              </a:defRPr>
            </a:pPr>
            <a:r>
              <a:t>3  One possible random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101498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2B58"/>
                </a:solidFill>
                <a:latin typeface="Aptos"/>
              </a:defRPr>
            </a:pPr>
            <a:r>
              <a:t>Generate a random integer from 1 to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49300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E273A"/>
                </a:solidFill>
                <a:latin typeface="Aptos"/>
              </a:defRPr>
            </a:pPr>
            <a:r>
              <a:t>1, 2, 3, 4, 5, 6, 7  →  record 1 (Success)       •       8, 9, 10  →  record 0 (Failure)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40480"/>
            <a:ext cx="10058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58B"/>
                </a:solidFill>
                <a:latin typeface="Aptos"/>
              </a:defRPr>
            </a:pPr>
            <a:r>
              <a:t>7 of the 10 equally likely numbers represent success  →  P(Success) = 7/10 = 0.70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16552"/>
            <a:ext cx="5166360" cy="129844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535424"/>
            <a:ext cx="4709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345BD2"/>
                </a:solidFill>
                <a:latin typeface="Aptos"/>
              </a:defRPr>
            </a:pPr>
            <a:r>
              <a:t>4  Exactly 7 every time?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55464"/>
            <a:ext cx="4709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No. A 70% chance does not guarantee exactly 7 successes in every set of 10 shots.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416552"/>
            <a:ext cx="5166360" cy="1298448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4535424"/>
            <a:ext cx="4709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6A977"/>
                </a:solidFill>
                <a:latin typeface="Aptos"/>
              </a:defRPr>
            </a:pPr>
            <a:r>
              <a:t>5  Long-run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855464"/>
            <a:ext cx="470916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Repeat the simulation many times and examine the overall proportion of successful shots.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943600"/>
            <a:ext cx="9418320" cy="347472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5980176"/>
            <a:ext cx="9052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More repetitions → the overall proportion of successes tends to get closer to 70%.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Law of Large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Long-run relative frequency tends to approach the true probability.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737360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18288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10 trials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737360"/>
            <a:ext cx="274320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82880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5BD2"/>
                </a:solidFill>
                <a:latin typeface="Aptos"/>
              </a:defRPr>
            </a:pPr>
            <a:r>
              <a:t>0.40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395728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2487168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50 trials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2395728"/>
            <a:ext cx="274320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2487168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5BD2"/>
                </a:solidFill>
                <a:latin typeface="Aptos"/>
              </a:defRPr>
            </a:pPr>
            <a:r>
              <a:t>0.30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054096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011680" y="3145536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100 trials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054096"/>
            <a:ext cx="274320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89320" y="3145536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5BD2"/>
                </a:solidFill>
                <a:latin typeface="Aptos"/>
              </a:defRPr>
            </a:pPr>
            <a:r>
              <a:t>0.35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3712464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011680" y="3803904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1,000 trials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3712464"/>
            <a:ext cx="274320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89320" y="3803904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5BD2"/>
                </a:solidFill>
                <a:latin typeface="Aptos"/>
              </a:defRPr>
            </a:pPr>
            <a:r>
              <a:t>0.329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4370831"/>
            <a:ext cx="3840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0" y="4462272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10,000 trials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70831"/>
            <a:ext cx="274320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44622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45BD2"/>
                </a:solidFill>
                <a:latin typeface="Aptos"/>
              </a:defRPr>
            </a:pPr>
            <a:r>
              <a:t>0.334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880360"/>
            <a:ext cx="2011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69758B"/>
                </a:solidFill>
                <a:latin typeface="Aptos"/>
              </a:defRPr>
            </a:pPr>
            <a:r>
              <a:rPr dirty="0"/>
              <a:t>Illustrative simulation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The results need not move closer every single step; the long-run proportion tends to stabilize.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Important misconception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The Law of Large Numbers is NOT the gambler's fallacy.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5166360" cy="182880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0025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EF4B5C"/>
                </a:solidFill>
                <a:latin typeface="Aptos"/>
              </a:defRPr>
            </a:pPr>
            <a:r>
              <a:t>Incorrect 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7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rPr dirty="0"/>
              <a:t>“I lost five times, so I am more likely to win next.”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74519"/>
            <a:ext cx="5166360" cy="18288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00253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Correct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7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The probability of the NEXT independent die roll is still 1/3. Long-run proportions stabilize over many repetitions.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Probability describes long-run behavior without guaranteeing short-run balance.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Complement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The complement Aᶜ means that event A does NOT occur.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6F4BEF"/>
                </a:solidFill>
                <a:latin typeface="Aptos"/>
              </a:defRPr>
            </a:pPr>
            <a:r>
              <a:t>P(Aᶜ) = 1 − P(A)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5166360" cy="155448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19125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Example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584448"/>
            <a:ext cx="476402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P(win) = 1/3</a:t>
            </a:r>
            <a:br/>
            <a:r>
              <a:t>P(not win) = 1 − 1/3 = 2/3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63240"/>
            <a:ext cx="5166360" cy="155448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3191256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Example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584448"/>
            <a:ext cx="476402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P(student takes bus) = 0.40</a:t>
            </a:r>
            <a:br/>
            <a:r>
              <a:t>P(does not take bus) = 1 − 0.40 = 0.60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50992"/>
            <a:ext cx="10332720" cy="47548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5733288"/>
            <a:ext cx="9966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An event and its complement together cover the entire sample space.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CLASSWORK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4 — complements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Classwork — discuss first, then calculate.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10652760" cy="10515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901952"/>
            <a:ext cx="10104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92B58"/>
                </a:solidFill>
                <a:latin typeface="Aptos"/>
              </a:defRPr>
            </a:pPr>
            <a:r>
              <a:t>The probability that a randomly selected student brings lunch from home is 0.27.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63240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15468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a) Find P(does not bring lunch from home).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721608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81304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b) Interpret your answer in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379976"/>
            <a:ext cx="10149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471416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c) In 20 randomly selected students, must exactly 73% not bring lunch? Explain.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4 —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Use the complement, then interpret the probability.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1">
                <a:solidFill>
                  <a:srgbClr val="6F4BEF"/>
                </a:solidFill>
                <a:latin typeface="Aptos"/>
              </a:defRPr>
            </a:pPr>
            <a:r>
              <a:t>P(not home lunch) = 1 − 0.27 = 0.73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063240"/>
            <a:ext cx="10058400" cy="132588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3191256"/>
            <a:ext cx="96560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584448"/>
            <a:ext cx="96560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In the long run, about 73% of randomly selected students would be expected not to bring lunch from home.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572000"/>
            <a:ext cx="10058400" cy="96012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4700016"/>
            <a:ext cx="96560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5093208"/>
            <a:ext cx="965606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A sample of 20 students does NOT have to contain exactly 73% in that category. Short-run results vary.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AP-style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Show the probability expression, substitution, answer, and interpretation.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91640"/>
            <a:ext cx="106527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1847088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92B58"/>
                </a:solidFill>
                <a:latin typeface="Aptos"/>
              </a:defRPr>
            </a:pPr>
            <a:r>
              <a:t>A fair spinner has 8 equal sections numbered 1–8. A player wins if the spinner lands on 1, 2, or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E273A"/>
                </a:solidFill>
                <a:latin typeface="Aptos"/>
              </a:defRPr>
            </a:pPr>
            <a:r>
              <a:t>a) Find P(win).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E273A"/>
                </a:solidFill>
                <a:latin typeface="Aptos"/>
              </a:defRPr>
            </a:pPr>
            <a:r>
              <a:t>b) Find P(not win) using the complement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51960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E273A"/>
                </a:solidFill>
                <a:latin typeface="Aptos"/>
              </a:defRPr>
            </a:pPr>
            <a:r>
              <a:t>c) In 40 plays, a player wins 18 times. Find the experimental probability.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9966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E273A"/>
                </a:solidFill>
                <a:latin typeface="Aptos"/>
              </a:defRPr>
            </a:pPr>
            <a:r>
              <a:t>d) Explain why the experimental probability can differ from the theoretical probability.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AP-style practice —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Compare theoretical probability with observed relative frequency.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166360" cy="18288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Theoretical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04288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P(win) = 3/8 = 0.375</a:t>
            </a:r>
            <a:br/>
            <a:r>
              <a:t>P(not win) = 1 − 0.375 = 0.625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166360" cy="182880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911095"/>
            <a:ext cx="476402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Experimental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304288"/>
            <a:ext cx="4764024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18/40 = 0.45</a:t>
            </a:r>
            <a:br/>
            <a:br/>
            <a:r>
              <a:t>The result is based on only 40 repetitions.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069080"/>
            <a:ext cx="10058400" cy="132588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52728" y="4197096"/>
            <a:ext cx="96560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590288"/>
            <a:ext cx="9656064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Random variation causes short-run relative frequencies to differ from the theoretical probability. With many repetitions, the relative frequency tends to stabilize near the true probability.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Answer independently in complete statistical sentences.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72768"/>
            <a:ext cx="10561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682496"/>
            <a:ext cx="10104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1. Define an event and give an example using a six-sided die.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23160"/>
            <a:ext cx="10561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2532888"/>
            <a:ext cx="10104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2. A fair die is rolled. Find P(roll ≤ 2).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73552"/>
            <a:ext cx="10561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383280"/>
            <a:ext cx="10104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3. Find the complement of the event in Question 2 and its probability.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23944"/>
            <a:ext cx="10561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233672"/>
            <a:ext cx="10104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4. Explain the Law of Large Numbers without saying that outcomes 'even out.'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74336"/>
            <a:ext cx="1056132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5084064"/>
            <a:ext cx="10104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5. Why can 20 simulated trials give a probability estimate far from the theoretical value?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Lesson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9758B"/>
                </a:solidFill>
                <a:latin typeface="Aptos"/>
              </a:defRPr>
            </a:pPr>
            <a:r>
              <a:t>Probability describes uncertainty and long-run patterns.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69758B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54480"/>
            <a:ext cx="10515600" cy="65836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1682495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RANDOM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075688"/>
            <a:ext cx="10113264" cy="18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Individual outcomes are uncertain.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04872"/>
            <a:ext cx="10515600" cy="658368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2532888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26A977"/>
                </a:solidFill>
                <a:latin typeface="Aptos"/>
              </a:defRPr>
            </a:pPr>
            <a:r>
              <a:t>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926079"/>
            <a:ext cx="10113264" cy="18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For equally likely outcomes: favorable ÷ total.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55264"/>
            <a:ext cx="10515600" cy="658368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383280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6F4BEF"/>
                </a:solidFill>
                <a:latin typeface="Aptos"/>
              </a:defRPr>
            </a:pPr>
            <a:r>
              <a:t>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776472"/>
            <a:ext cx="10113264" cy="18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Imitates chance behavior and estimates probability.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05656"/>
            <a:ext cx="10515600" cy="658368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233672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69E0B"/>
                </a:solidFill>
                <a:latin typeface="Aptos"/>
              </a:defRPr>
            </a:pPr>
            <a:r>
              <a:t>LONG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4626864"/>
            <a:ext cx="10113264" cy="18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Relative frequency tends toward true probability.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56048"/>
            <a:ext cx="10515600" cy="65836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084064"/>
            <a:ext cx="101132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345BD2"/>
                </a:solidFill>
                <a:latin typeface="Aptos"/>
              </a:defRPr>
            </a:pPr>
            <a:r>
              <a:t>COMPLEMENT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477256"/>
            <a:ext cx="10113264" cy="18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1E273A"/>
                </a:solidFill>
                <a:latin typeface="Aptos"/>
              </a:defRPr>
            </a:pPr>
            <a:r>
              <a:t>P(Aᶜ) = 1 − P(A).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CLASSWORK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— Think Before You Calculate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440680" cy="452628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83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A  •  Same Probability or Not?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01952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B58"/>
                </a:solidFill>
                <a:latin typeface="Aptos"/>
              </a:defRPr>
            </a:pPr>
            <a:r>
              <a:rPr dirty="0"/>
              <a:t>A bag contains 4 red, 3 blue, and 1 green marble. One marble is selected at random.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892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Without calculating first, rank from least likely to most likely: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08960"/>
            <a:ext cx="42976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E273A"/>
                </a:solidFill>
                <a:latin typeface="Aptos"/>
              </a:defRPr>
            </a:pPr>
            <a:r>
              <a:t>A: Green</a:t>
            </a:r>
            <a:br/>
            <a:r>
              <a:t>B: Blue</a:t>
            </a:r>
            <a:br/>
            <a:r>
              <a:t>C: Not red</a:t>
            </a:r>
            <a:br/>
            <a:r>
              <a:t>D: Red or green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4892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92B58"/>
                </a:solidFill>
                <a:latin typeface="Aptos"/>
              </a:defRPr>
            </a:pPr>
            <a:r>
              <a:t>Then calculate each probability. Are any two events equally likely?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1325880"/>
            <a:ext cx="5074920" cy="452628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1508760"/>
            <a:ext cx="4617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B  •  Is This Reasoning Correct?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192024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B58"/>
                </a:solidFill>
                <a:latin typeface="Aptos"/>
              </a:defRPr>
            </a:pPr>
            <a:r>
              <a:t>A student rolls a fair six-sided die and says: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487168"/>
            <a:ext cx="4224528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0" y="2615184"/>
            <a:ext cx="3749039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E273A"/>
                </a:solidFill>
                <a:latin typeface="Aptos"/>
              </a:defRPr>
            </a:pPr>
            <a:r>
              <a:t>“There are two possibilities: I roll a 6 or I don't. So P(6) = 1/2.”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3932360"/>
            <a:ext cx="4572000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rPr dirty="0"/>
              <a:t>1. Is the </a:t>
            </a:r>
            <a:r>
              <a:rPr lang="en-US" dirty="0"/>
              <a:t>reasoning</a:t>
            </a:r>
            <a:r>
              <a:rPr dirty="0"/>
              <a:t> correct?</a:t>
            </a:r>
            <a:br>
              <a:rPr dirty="0"/>
            </a:br>
            <a:r>
              <a:rPr dirty="0"/>
              <a:t>2. What is wrong with it?</a:t>
            </a:r>
            <a:br>
              <a:rPr dirty="0"/>
            </a:br>
            <a:r>
              <a:rPr dirty="0"/>
              <a:t>3. Find the correct probability.</a:t>
            </a:r>
            <a:br>
              <a:rPr dirty="0"/>
            </a:br>
            <a:r>
              <a:rPr dirty="0"/>
              <a:t>4. When could two outcomes really give probability 1/2?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—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53312"/>
            <a:ext cx="5440680" cy="448056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27048"/>
            <a:ext cx="4983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6A977"/>
                </a:solidFill>
                <a:latin typeface="Aptos"/>
              </a:defRPr>
            </a:pPr>
            <a:r>
              <a:t>A  •  Same Probability or Not?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4800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2B58"/>
                </a:solidFill>
                <a:latin typeface="Aptos"/>
              </a:defRPr>
            </a:pPr>
            <a:r>
              <a:t>P(A)=1/8     P(B)=3/8</a:t>
            </a:r>
            <a:br/>
            <a:r>
              <a:t>P(C)=4/8=1/2     P(D)=5/8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246120"/>
            <a:ext cx="4572000" cy="5943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5880" y="3355848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  &lt;  B  &lt;  C  &lt; 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96512"/>
            <a:ext cx="4800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E273A"/>
                </a:solidFill>
                <a:latin typeface="Aptos"/>
              </a:defRPr>
            </a:pPr>
            <a:r>
              <a:t>No two events have the same probability.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736592"/>
            <a:ext cx="48006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69758B"/>
                </a:solidFill>
                <a:latin typeface="Aptos"/>
              </a:defRPr>
            </a:pPr>
            <a:r>
              <a:t>Key idea: translate words like NOT and OR into the outcomes they describe.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353312"/>
            <a:ext cx="5074920" cy="448056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1527048"/>
            <a:ext cx="4617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6F4BEF"/>
                </a:solidFill>
                <a:latin typeface="Aptos"/>
              </a:defRPr>
            </a:pPr>
            <a:r>
              <a:t>B  •  Is This Reasoning Correct?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4572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F4B5C"/>
                </a:solidFill>
                <a:latin typeface="Aptos"/>
              </a:defRPr>
            </a:pPr>
            <a:r>
              <a:t>No. The two categories are not equally likely.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51760"/>
            <a:ext cx="4572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92B58"/>
                </a:solidFill>
                <a:latin typeface="Aptos"/>
              </a:defRPr>
            </a:pPr>
            <a:r>
              <a:t>Equally likely sample space: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71800"/>
            <a:ext cx="4572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6F4BEF"/>
                </a:solidFill>
                <a:latin typeface="Aptos"/>
              </a:defRPr>
            </a:pPr>
            <a:r>
              <a:t>{1, 2, 3, 4, 5, 6}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84448"/>
            <a:ext cx="4572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92B58"/>
                </a:solidFill>
                <a:latin typeface="Aptos"/>
              </a:defRPr>
            </a:pPr>
            <a:r>
              <a:rPr dirty="0"/>
              <a:t>P(6)=1/6       P(not 6)=5/6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297680"/>
            <a:ext cx="438912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49440" y="4480560"/>
            <a:ext cx="3931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E273A"/>
                </a:solidFill>
                <a:latin typeface="Aptos"/>
              </a:defRPr>
            </a:pPr>
            <a:r>
              <a:t>Two possible categories ≠ 50–50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212080"/>
            <a:ext cx="4572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69758B"/>
                </a:solidFill>
                <a:latin typeface="Aptos"/>
              </a:defRPr>
            </a:pPr>
            <a:r>
              <a:t>Example of 1/2: heads vs. tails on one fair coin toss.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Classwork — Build the Sample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10469880" cy="91440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12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B58"/>
                </a:solidFill>
                <a:latin typeface="Aptos"/>
              </a:defRPr>
            </a:pPr>
            <a:r>
              <a:t>Two fair coins are tossed. A student claims: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10012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6F4BEF"/>
                </a:solidFill>
                <a:latin typeface="Aptos"/>
              </a:defRPr>
            </a:pPr>
            <a:r>
              <a:t>“The results are 0 heads, 1 head, or 2 heads. Therefore, P(exactly 1 head) = 1/3.”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651760"/>
            <a:ext cx="10149840" cy="5029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272491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5568" y="2720340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27203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702052"/>
            <a:ext cx="90982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1. Do you agree with the student? Explain.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264408"/>
            <a:ext cx="10149840" cy="5029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3337560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3332988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333298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314700"/>
            <a:ext cx="90982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2. Write the complete sample space for two coin tosses.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877056"/>
            <a:ext cx="10149840" cy="50292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0432" y="395020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15568" y="3945636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39456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927348"/>
            <a:ext cx="90982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3. Are all outcomes in your sample space equally likely?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489704"/>
            <a:ext cx="10149840" cy="5029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70432" y="4562856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5568" y="4558284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5568" y="4558284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539996"/>
            <a:ext cx="90982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4. Use the sample space to find P(exactly one head).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5102352"/>
            <a:ext cx="10149840" cy="50292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0432" y="5175504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5568" y="5170932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15568" y="51709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91640" y="5152644"/>
            <a:ext cx="909828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5. Explain precisely why 1/3 is not the correct probability.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Challenge —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10469880" cy="713232"/>
          </a:xfrm>
          <a:prstGeom prst="roundRect">
            <a:avLst/>
          </a:prstGeom>
          <a:solidFill>
            <a:srgbClr val="FF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12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F4B5C"/>
                </a:solidFill>
                <a:latin typeface="Aptos"/>
              </a:defRPr>
            </a:pPr>
            <a:r>
              <a:t>The student's conclusion is incorrect because 0 heads, 1 head, and 2 heads are not equally likely.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10332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B58"/>
                </a:solidFill>
                <a:latin typeface="Aptos"/>
              </a:defRPr>
            </a:pPr>
            <a:r>
              <a:t>Complete equally likely sample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852928"/>
            <a:ext cx="1554480" cy="7315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2990088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6F4BEF"/>
                </a:solidFill>
                <a:latin typeface="Aptos"/>
              </a:defRPr>
            </a:pPr>
            <a:r>
              <a:t>HH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852928"/>
            <a:ext cx="1554480" cy="7315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2990088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6F4BEF"/>
                </a:solidFill>
                <a:latin typeface="Aptos"/>
              </a:defRPr>
            </a:pPr>
            <a:r>
              <a:t>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852928"/>
            <a:ext cx="1554480" cy="7315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990088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6F4BEF"/>
                </a:solidFill>
                <a:latin typeface="Aptos"/>
              </a:defRPr>
            </a:pPr>
            <a:r>
              <a:t>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852928"/>
            <a:ext cx="1554480" cy="73152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2990088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6F4BEF"/>
                </a:solidFill>
                <a:latin typeface="Aptos"/>
              </a:defRPr>
            </a:pPr>
            <a:r>
              <a:t>TT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B58"/>
                </a:solidFill>
                <a:latin typeface="Aptos"/>
              </a:defRPr>
            </a:pPr>
            <a:r>
              <a:t>Exactly one head occurs in HT and TH: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103327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00" b="1">
                <a:solidFill>
                  <a:srgbClr val="26A977"/>
                </a:solidFill>
                <a:latin typeface="Aptos"/>
              </a:defRPr>
            </a:pPr>
            <a:r>
              <a:t>P(exactly 1 head) = 2/4 = 1/2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5285232"/>
            <a:ext cx="9144000" cy="65836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737360" y="5413248"/>
            <a:ext cx="8686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Important: the simple counting rule requires equally likely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Challenge Classwork — Reverse Probability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371600"/>
            <a:ext cx="10469880" cy="841248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481328"/>
            <a:ext cx="10012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B58"/>
                </a:solidFill>
                <a:latin typeface="Aptos"/>
              </a:defRPr>
            </a:pPr>
            <a:r>
              <a:t>A box contains only red and blue cards. A card is selected at random.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92224"/>
            <a:ext cx="100126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6F4BEF"/>
                </a:solidFill>
                <a:latin typeface="Aptos"/>
              </a:defRPr>
            </a:pPr>
            <a:r>
              <a:t>P(Red) = 3/8     and     there are 24 cards in total.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542032"/>
            <a:ext cx="10241280" cy="53035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7280" y="2624327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624327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2596896"/>
            <a:ext cx="9144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1. How many red cards must be in the box?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172968"/>
            <a:ext cx="10241280" cy="530352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7280" y="3255263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255263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227832"/>
            <a:ext cx="9144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2. How many blue cards must be in the box?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803904"/>
            <a:ext cx="10241280" cy="530352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7280" y="3886200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886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3858768"/>
            <a:ext cx="9144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3. Find P(Blue). Explain how you know.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434840"/>
            <a:ext cx="10241280" cy="530352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7280" y="4517136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4489703"/>
            <a:ext cx="9144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4. Now 8 more red cards are added. Is P(Red) still 3/8?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5065775"/>
            <a:ext cx="10241280" cy="530352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97280" y="5148071"/>
            <a:ext cx="365760" cy="365760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148071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" y="5120639"/>
            <a:ext cx="91440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E273A"/>
                </a:solidFill>
                <a:latin typeface="Aptos"/>
              </a:defRPr>
            </a:pPr>
            <a:r>
              <a:t>5. Find the new probability of selecting a red card and explain what changed.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5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345BD2"/>
                </a:solidFill>
                <a:latin typeface="Aptos"/>
              </a:defRPr>
            </a:pPr>
            <a:r>
              <a:t>AP STATISTICS  •  UNIT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011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69758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58"/>
                </a:solidFill>
                <a:latin typeface="Aptos"/>
              </a:defRPr>
            </a:pPr>
            <a:r>
              <a:t>Reverse Probability —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69758B"/>
                </a:solidFill>
                <a:latin typeface="Aptos"/>
              </a:defRPr>
            </a:pPr>
            <a:r>
              <a:t>ANAS BELLAOUALI  •  AP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520440" cy="1234440"/>
          </a:xfrm>
          <a:prstGeom prst="roundRect">
            <a:avLst/>
          </a:prstGeom>
          <a:solidFill>
            <a:srgbClr val="E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1517904"/>
            <a:ext cx="384048" cy="38404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15179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50876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6A977"/>
                </a:solidFill>
                <a:latin typeface="Aptos"/>
              </a:defRPr>
            </a:pPr>
            <a:r>
              <a:t>Red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92B58"/>
                </a:solidFill>
                <a:latin typeface="Aptos"/>
              </a:defRPr>
            </a:pPr>
            <a:r>
              <a:t>(3/8) × 24 =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17320"/>
            <a:ext cx="3520440" cy="1234440"/>
          </a:xfrm>
          <a:prstGeom prst="roundRect">
            <a:avLst/>
          </a:prstGeom>
          <a:solidFill>
            <a:srgbClr val="F4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53619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1517904"/>
            <a:ext cx="384048" cy="38404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5179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50876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6F4BEF"/>
                </a:solidFill>
                <a:latin typeface="Aptos"/>
              </a:defRPr>
            </a:pPr>
            <a:r>
              <a:t>Blue cards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1993392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92B58"/>
                </a:solidFill>
                <a:latin typeface="Aptos"/>
              </a:defRPr>
            </a:pPr>
            <a:r>
              <a:t>24 − 9 = 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417320"/>
            <a:ext cx="3520440" cy="123444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536192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1517904"/>
            <a:ext cx="384048" cy="38404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93024" y="151790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50876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69E0B"/>
                </a:solidFill>
                <a:latin typeface="Aptos"/>
              </a:defRPr>
            </a:pPr>
            <a:r>
              <a:t>P(Blue)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993392"/>
            <a:ext cx="3063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92B58"/>
                </a:solidFill>
                <a:latin typeface="Aptos"/>
              </a:defRPr>
            </a:pPr>
            <a:r>
              <a:t>15/24 = 5/8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035808"/>
            <a:ext cx="10469880" cy="960120"/>
          </a:xfrm>
          <a:prstGeom prst="roundRect">
            <a:avLst/>
          </a:prstGeom>
          <a:solidFill>
            <a:srgbClr val="E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3182112"/>
            <a:ext cx="10012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45BD2"/>
                </a:solidFill>
                <a:latin typeface="Aptos"/>
              </a:defRPr>
            </a:pPr>
            <a:r>
              <a:t>After adding 8 red cards: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493008"/>
            <a:ext cx="10012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2B58"/>
                </a:solidFill>
                <a:latin typeface="Aptos"/>
              </a:defRPr>
            </a:pPr>
            <a:r>
              <a:t>17 red + 15 blue = 32 total cards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15968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6F4BEF"/>
                </a:solidFill>
                <a:latin typeface="Aptos"/>
              </a:defRPr>
            </a:pPr>
            <a:r>
              <a:t>New P(Red) = 17/32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5138928"/>
            <a:ext cx="9601200" cy="749808"/>
          </a:xfrm>
          <a:prstGeom prst="roundRect">
            <a:avLst/>
          </a:prstGeom>
          <a:solidFill>
            <a:srgbClr val="19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08760" y="5285232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The probability changes because both the number of favorable outcomes and the total number of outcomes 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2814</Words>
  <Application>Microsoft Office PowerPoint</Application>
  <PresentationFormat>Widescreen</PresentationFormat>
  <Paragraphs>422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Bellaquali</cp:lastModifiedBy>
  <cp:revision>2</cp:revision>
  <dcterms:created xsi:type="dcterms:W3CDTF">2013-01-27T09:14:16Z</dcterms:created>
  <dcterms:modified xsi:type="dcterms:W3CDTF">2026-09-27T04:33:54Z</dcterms:modified>
  <cp:category/>
</cp:coreProperties>
</file>